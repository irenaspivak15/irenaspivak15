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פתיחה" id="{f7eca6f4-292c-5044-137d-8e84380d3864}">
          <p14:sldIdLst>
            <p14:sldId id="256"/>
          </p14:sldIdLst>
        </p14:section>
        <p14:section name="הבעיה" id="{c49a61c5-fb8a-dd17-e83d-fa5922b31d86}">
          <p14:sldIdLst>
            <p14:sldId id="257"/>
            <p14:sldId id="258"/>
          </p14:sldIdLst>
        </p14:section>
        <p14:section name="הפתרון" id="{61310519-d4e1-1aa6-faa3-aca00acd2205}">
          <p14:sldIdLst>
            <p14:sldId id="259"/>
            <p14:sldId id="260"/>
            <p14:sldId id="261"/>
          </p14:sldIdLst>
        </p14:section>
        <p14:section name="ערך ושוק" id="{64952a1e-f52c-0c4d-a109-e4676ab640a0}">
          <p14:sldIdLst>
            <p14:sldId id="262"/>
            <p14:sldId id="263"/>
            <p14:sldId id="264"/>
          </p14:sldIdLst>
        </p14:section>
        <p14:section name="ביצוע" id="{ac39bb7e-bc85-b81e-0551-5f9bf6a2811a}">
          <p14:sldIdLst>
            <p14:sldId id="265"/>
            <p14:sldId id="266"/>
            <p14:sldId id="267"/>
          </p14:sldIdLst>
        </p14:section>
        <p14:section name="סיכום" id="{9bb29d2a-179a-b53b-4397-5c95909abc0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3D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3D2E"/>
                </a:solidFill>
                <a:latin typeface="+mn-lt"/>
              </a:rPr>
              <a:t>חיסכון שנתי פוטנציאלי לפי מקור (מיליון ₪)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חיסכון שנתי (מיליון ₪)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423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חשמל וקירור</c:v>
                  </c:pt>
                  <c:pt idx="1">
                    <c:v>כפילויות עובדים (הסבה)</c:v>
                  </c:pt>
                  <c:pt idx="2">
                    <c:v>כלים ורישיונות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</c:v>
                </c:pt>
                <c:pt idx="1">
                  <c:v>0.9</c:v>
                </c:pt>
                <c:pt idx="2">
                  <c:v>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423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3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פתיחה: מי אנחנו ובמה נעסוק. משפט אחד: אנחנו עוזרים למנהל ה-IT לענות על השאלה 'איפה הכסף?' — ולחסוך בלי לפגוע ברווח.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שלושה מקורות דליפה: אנשים, כלים, חשמל. הנתונים קיימים — אבל מפוזרים. הסטטיסטיקות מגיעות מדוח Flexera State of the Cloud ומחקר Koomey &amp; Taylor על שרתים 'קומטוזים'. מומלץ לוודא את המספר העדכני לפני ההצגה.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הדגישו שהפתרונות הקיימים מצוינים — אבל כל אחד מכסה רק תחום אחד. הייחוד שלנו: תמונה אחת + 'מבחן רווח' לכל המלצה.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משפט המעלית ואז ארבעת השלבים. הדגישו את שלב 3 — זה מה שמבדיל אותנו.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מנוע האנשים רגיש: המטרה היא להעביר אנשים לעבודה בעלת ערך גבוה יותר, לא לצמצם. זה גם מה שמגן על הרווחיות.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 נקודה במטריצה היא המלצה. המערכת מציגה למנהל קודם את הרביע הירוק — חיסכון גבוה, סיכון נמוך.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המספרים הם תרחיש המחשה, לא תוצאות בפועל. אם יש לכם נתונים מארגון אמיתי — החליפו אותם כאן.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שלוש מגמות שיוצרות דחיפות. נתון ה-IEA: צריכת חשמל של מרכזי נתונים צפויה להגיע לכ-945 TWh ב-2030.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מחיר מדויק ייקבע בפיילוט. ההיגיון: סיכון נמוך ללקוח — דמי ההצלחה מיישרים אינטרסים.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משתלבים בכלים ש-IBM כבר מוכרת ללקוחות ארגוניים: Apptio, Turbonomic ו-Envizi, עם watsonx כשכבת ה-AI והממשל.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מתחילים בתחומים שבהם הנתונים זמינים והחיסכון מהיר (כלים, חשמל), ורק אחר כך מנוע האנשים — הרגיש יותר.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השלימו שמות, תפקידים וניסיון של חברי הצוות.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סיום: הבקשה הקונקרטית, ומשפט הסיום שחוזר על ההבטחה המרכזית.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70408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איפה הכסף?  |  IBM Challenge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600" b="1" spc="300" kern="0" dirty="0">
                <a:solidFill>
                  <a:schemeClr val="accent2"/>
                </a:solidFill>
              </a:rPr>
              <a:t>IBM CHALLENGE 2026</a:t>
            </a:r>
            <a:endParaRPr lang="he-IL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0116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6000" b="1" dirty="0">
                <a:solidFill>
                  <a:schemeClr val="bg1"/>
                </a:solidFill>
              </a:rPr>
              <a:t>איפה הכסף?</a:t>
            </a:r>
            <a:endParaRPr lang="he-IL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56616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chemeClr val="bg2"/>
                </a:solidFill>
              </a:rPr>
              <a:t>עוזר AI למנהל ה-IT שמאתר כפילויות בעובדים, בכלים ובצריכת החשמל — ומציע ייעול בלי לפגוע ברווחיות הכוללת</a:t>
            </a:r>
            <a:endParaRPr lang="he-IL" sz="2000" dirty="0"/>
          </a:p>
        </p:txBody>
      </p:sp>
      <p:sp>
        <p:nvSpPr>
          <p:cNvPr id="5" name="hero circle"/>
          <p:cNvSpPr/>
          <p:nvPr/>
        </p:nvSpPr>
        <p:spPr>
          <a:xfrm>
            <a:off x="8595360" y="1737360"/>
            <a:ext cx="3017520" cy="3017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hero icon" descr="זכוכית מגדלת על סימן כסף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מנהל ה-IT יודע שהכסף דולף — אבל לא יודע איפה</a:t>
            </a:r>
            <a:endParaRPr lang="he-IL" sz="3200" dirty="0"/>
          </a:p>
        </p:txBody>
      </p:sp>
      <p:sp>
        <p:nvSpPr>
          <p:cNvPr id="3" name="problem card 1"/>
          <p:cNvSpPr/>
          <p:nvPr/>
        </p:nvSpPr>
        <p:spPr>
          <a:xfrm>
            <a:off x="8168335" y="1554480"/>
            <a:ext cx="3474720" cy="44805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עובדים circle"/>
          <p:cNvSpPr/>
          <p:nvPr/>
        </p:nvSpPr>
        <p:spPr>
          <a:xfrm>
            <a:off x="10545775" y="187452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עובדים icon" descr="עובדי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0085" y="206883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42655" y="19659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עובדים</a:t>
            </a:r>
            <a:endParaRPr lang="he-IL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442655" y="288036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chemeClr val="accent1"/>
                </a:solidFill>
              </a:rPr>
              <a:t>3 מערכות</a:t>
            </a:r>
            <a:endParaRPr lang="he-IL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442655" y="397764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נתוני HR, משימות ופרויקטים יושבים במערכות נפרדות — אף אחד לא רואה שני צוותים שעושים את אותה עבודה</a:t>
            </a:r>
            <a:endParaRPr lang="he-IL" sz="1500" dirty="0"/>
          </a:p>
        </p:txBody>
      </p:sp>
      <p:sp>
        <p:nvSpPr>
          <p:cNvPr id="9" name="problem card 2"/>
          <p:cNvSpPr/>
          <p:nvPr/>
        </p:nvSpPr>
        <p:spPr>
          <a:xfrm>
            <a:off x="4364431" y="1554480"/>
            <a:ext cx="3474720" cy="44805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כלים ותוכנה circle"/>
          <p:cNvSpPr/>
          <p:nvPr/>
        </p:nvSpPr>
        <p:spPr>
          <a:xfrm>
            <a:off x="6741871" y="187452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כלים ותוכנה icon" descr="כלים ותוכנ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6181" y="206883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38751" y="19659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כלים ותוכנה</a:t>
            </a:r>
            <a:endParaRPr lang="he-IL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38751" y="288036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chemeClr val="accent1"/>
                </a:solidFill>
              </a:rPr>
              <a:t>כ-27%</a:t>
            </a:r>
            <a:endParaRPr lang="he-IL" sz="4800" dirty="0"/>
          </a:p>
        </p:txBody>
      </p:sp>
      <p:sp>
        <p:nvSpPr>
          <p:cNvPr id="14" name="Text 10"/>
          <p:cNvSpPr txBox="1"/>
          <p:nvPr/>
        </p:nvSpPr>
        <p:spPr>
          <a:xfrm>
            <a:off x="4638751" y="397764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מההוצאה על ענן מוערכת כבזבוז: רישיונות לא בשימוש וכלים כפולים לאותה מטרה</a:t>
            </a:r>
            <a:endParaRPr lang="he-IL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638751" y="54864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100" i="1" dirty="0">
                <a:solidFill>
                  <a:schemeClr val="accent4"/>
                </a:solidFill>
              </a:rPr>
              <a:t>מקור: Flexera, State of the Cloud</a:t>
            </a:r>
            <a:endParaRPr lang="he-IL" sz="1100" dirty="0"/>
          </a:p>
        </p:txBody>
      </p:sp>
      <p:sp>
        <p:nvSpPr>
          <p:cNvPr id="16" name="problem card 3"/>
          <p:cNvSpPr/>
          <p:nvPr/>
        </p:nvSpPr>
        <p:spPr>
          <a:xfrm>
            <a:off x="560527" y="1554480"/>
            <a:ext cx="3474720" cy="44805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חשמל circle"/>
          <p:cNvSpPr/>
          <p:nvPr/>
        </p:nvSpPr>
        <p:spPr>
          <a:xfrm>
            <a:off x="2937967" y="187452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8" name="חשמל icon" descr="חשמל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2277" y="2068830"/>
            <a:ext cx="388620" cy="3886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4847" y="19659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חשמל</a:t>
            </a:r>
            <a:endParaRPr lang="he-IL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834847" y="288036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chemeClr val="accent1"/>
                </a:solidFill>
              </a:rPr>
              <a:t>עד 30%</a:t>
            </a:r>
            <a:endParaRPr lang="he-IL" sz="4800" dirty="0"/>
          </a:p>
        </p:txBody>
      </p:sp>
      <p:sp>
        <p:nvSpPr>
          <p:cNvPr id="21" name="Text 16"/>
          <p:cNvSpPr txBox="1"/>
          <p:nvPr/>
        </p:nvSpPr>
        <p:spPr>
          <a:xfrm>
            <a:off x="834847" y="397764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מהשרתים בחוות נתונים נמצאו 'זומבים' — צורכים חשמל וקירור בלי לבצע עבודה</a:t>
            </a:r>
            <a:endParaRPr lang="he-IL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4847" y="54864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100" i="1" dirty="0">
                <a:solidFill>
                  <a:schemeClr val="accent4"/>
                </a:solidFill>
              </a:rPr>
              <a:t>מקור: Koomey &amp; Taylor / Anthesis</a:t>
            </a:r>
            <a:endParaRPr lang="he-I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הפתרונות הקיימים רואים רק חתיכה מהתמונה</a:t>
            </a:r>
            <a:endParaRPr lang="he-IL" sz="3200" dirty="0"/>
          </a:p>
        </p:txBody>
      </p:sp>
      <p:graphicFrame>
        <p:nvGraphicFramePr>
          <p:cNvPr id="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37360"/>
                <a:gridCol w="1737360"/>
                <a:gridCol w="1737360"/>
                <a:gridCol w="3227832"/>
              </a:tblGrid>
              <a:tr h="65836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בדיקת השפעה על רווח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חשמל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כלים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עובדים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פתרון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חלקי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חלקי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אקסל וביקורת ידנית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כלי ניהול רישיונות SaaS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חלקי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כלי FinOps לענן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דשבורד אנרגיה / BMS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איפה הכסף?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800" b="1" i="1" dirty="0">
                <a:solidFill>
                  <a:schemeClr val="tx2"/>
                </a:solidFill>
              </a:rPr>
              <a:t>הפער: אף כלי לא מחבר בין אנשים, כלים וחשמל — ואף אחד לא בודק אם החיסכון יפגע בהכנסות</a:t>
            </a:r>
            <a:endParaRPr lang="he-I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הפתרון: CFO אישי למחלקת ה-IT</a:t>
            </a:r>
            <a:endParaRPr lang="he-IL" sz="3200" dirty="0"/>
          </a:p>
        </p:txBody>
      </p:sp>
      <p:sp>
        <p:nvSpPr>
          <p:cNvPr id="3" name="elevator pitch band"/>
          <p:cNvSpPr/>
          <p:nvPr/>
        </p:nvSpPr>
        <p:spPr>
          <a:xfrm>
            <a:off x="548640" y="1417320"/>
            <a:ext cx="11091672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chemeClr val="bg1"/>
                </a:solidFill>
              </a:rPr>
              <a:t>״איפה הכסף?״ מחבר את נתוני העובדים, הכלים והחשמל, מוצא כפילויות ומציג רק המלצות שחוסכות כסף בלי לפגוע ברווח</a:t>
            </a:r>
            <a:endParaRPr lang="he-IL" sz="2200" dirty="0"/>
          </a:p>
        </p:txBody>
      </p:sp>
      <p:sp>
        <p:nvSpPr>
          <p:cNvPr id="5" name="מתחברים circle"/>
          <p:cNvSpPr/>
          <p:nvPr/>
        </p:nvSpPr>
        <p:spPr>
          <a:xfrm>
            <a:off x="9837115" y="3063240"/>
            <a:ext cx="1097280" cy="10972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מתחברים icon" descr="מתחברי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1435" y="3337560"/>
            <a:ext cx="548640" cy="548640"/>
          </a:xfrm>
          <a:prstGeom prst="rect">
            <a:avLst/>
          </a:prstGeom>
        </p:spPr>
      </p:pic>
      <p:sp>
        <p:nvSpPr>
          <p:cNvPr id="7" name="step number 1"/>
          <p:cNvSpPr txBox="1"/>
          <p:nvPr/>
        </p:nvSpPr>
        <p:spPr>
          <a:xfrm>
            <a:off x="10660075" y="297180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28455" y="42976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מתחברים</a:t>
            </a:r>
            <a:endParaRPr lang="he-IL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128455" y="475488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HR, ITSM, רכש ורישיונות, ענן ומוני חשמל</a:t>
            </a:r>
            <a:endParaRPr lang="he-IL" sz="1500" dirty="0"/>
          </a:p>
        </p:txBody>
      </p:sp>
      <p:pic>
        <p:nvPicPr>
          <p:cNvPr id="10" name="flow arrow 1" descr="ח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7559" y="3474720"/>
            <a:ext cx="274320" cy="274320"/>
          </a:xfrm>
          <a:prstGeom prst="rect">
            <a:avLst/>
          </a:prstGeom>
        </p:spPr>
      </p:pic>
      <p:sp>
        <p:nvSpPr>
          <p:cNvPr id="11" name="מזהים circle"/>
          <p:cNvSpPr/>
          <p:nvPr/>
        </p:nvSpPr>
        <p:spPr>
          <a:xfrm>
            <a:off x="6975043" y="3063240"/>
            <a:ext cx="1097280" cy="10972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מזהים icon" descr="מזהים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363" y="3337560"/>
            <a:ext cx="548640" cy="548640"/>
          </a:xfrm>
          <a:prstGeom prst="rect">
            <a:avLst/>
          </a:prstGeom>
        </p:spPr>
      </p:pic>
      <p:sp>
        <p:nvSpPr>
          <p:cNvPr id="13" name="step number 2"/>
          <p:cNvSpPr txBox="1"/>
          <p:nvPr/>
        </p:nvSpPr>
        <p:spPr>
          <a:xfrm>
            <a:off x="7798003" y="297180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266383" y="42976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מזהים</a:t>
            </a:r>
            <a:endParaRPr lang="he-IL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6266383" y="475488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AI מאתר כפילויות, חוסר ניצול ובזבוז</a:t>
            </a:r>
            <a:endParaRPr lang="he-IL" sz="1500" dirty="0"/>
          </a:p>
        </p:txBody>
      </p:sp>
      <p:pic>
        <p:nvPicPr>
          <p:cNvPr id="16" name="flow arrow 2" descr="חץ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487" y="3474720"/>
            <a:ext cx="274320" cy="274320"/>
          </a:xfrm>
          <a:prstGeom prst="rect">
            <a:avLst/>
          </a:prstGeom>
        </p:spPr>
      </p:pic>
      <p:sp>
        <p:nvSpPr>
          <p:cNvPr id="17" name="בודקים רווח circle"/>
          <p:cNvSpPr/>
          <p:nvPr/>
        </p:nvSpPr>
        <p:spPr>
          <a:xfrm>
            <a:off x="4112971" y="3063240"/>
            <a:ext cx="1097280" cy="10972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בודקים רווח icon" descr="בודקים רווח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291" y="3337560"/>
            <a:ext cx="548640" cy="548640"/>
          </a:xfrm>
          <a:prstGeom prst="rect">
            <a:avLst/>
          </a:prstGeom>
        </p:spPr>
      </p:pic>
      <p:sp>
        <p:nvSpPr>
          <p:cNvPr id="19" name="step number 3"/>
          <p:cNvSpPr txBox="1"/>
          <p:nvPr/>
        </p:nvSpPr>
        <p:spPr>
          <a:xfrm>
            <a:off x="4935931" y="297180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3404311" y="42976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בודקים רווח</a:t>
            </a:r>
            <a:endParaRPr lang="he-IL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3404311" y="475488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כל המלצה עוברת סימולציה של השפעה על הכנסות ו-SLA</a:t>
            </a:r>
            <a:endParaRPr lang="he-IL" sz="1500" dirty="0"/>
          </a:p>
        </p:txBody>
      </p:sp>
      <p:pic>
        <p:nvPicPr>
          <p:cNvPr id="22" name="flow arrow 3" descr="חץ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415" y="3474720"/>
            <a:ext cx="274320" cy="274320"/>
          </a:xfrm>
          <a:prstGeom prst="rect">
            <a:avLst/>
          </a:prstGeom>
        </p:spPr>
      </p:pic>
      <p:sp>
        <p:nvSpPr>
          <p:cNvPr id="23" name="פועלים circle"/>
          <p:cNvSpPr/>
          <p:nvPr/>
        </p:nvSpPr>
        <p:spPr>
          <a:xfrm>
            <a:off x="1250899" y="3063240"/>
            <a:ext cx="1097280" cy="10972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פועלים icon" descr="פועלים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5219" y="3337560"/>
            <a:ext cx="548640" cy="548640"/>
          </a:xfrm>
          <a:prstGeom prst="rect">
            <a:avLst/>
          </a:prstGeom>
        </p:spPr>
      </p:pic>
      <p:sp>
        <p:nvSpPr>
          <p:cNvPr id="25" name="step number 4"/>
          <p:cNvSpPr txBox="1"/>
          <p:nvPr/>
        </p:nvSpPr>
        <p:spPr>
          <a:xfrm>
            <a:off x="2073859" y="297180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17"/>
          <p:cNvSpPr txBox="1"/>
          <p:nvPr/>
        </p:nvSpPr>
        <p:spPr>
          <a:xfrm>
            <a:off x="542239" y="42976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פועלים</a:t>
            </a:r>
            <a:endParaRPr lang="he-IL" sz="2000" dirty="0"/>
          </a:p>
        </p:txBody>
      </p:sp>
      <p:sp>
        <p:nvSpPr>
          <p:cNvPr id="27" name="Text 18"/>
          <p:cNvSpPr txBox="1"/>
          <p:nvPr/>
        </p:nvSpPr>
        <p:spPr>
          <a:xfrm>
            <a:off x="542239" y="475488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תוכנית פעולה מדורגת לפי חיסכון נקי, עם מעקב ביצוע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שלושה מנועים, תמונה אחת של הכסף</a:t>
            </a:r>
            <a:endParaRPr lang="he-IL" sz="3200" dirty="0"/>
          </a:p>
        </p:txBody>
      </p:sp>
      <p:sp>
        <p:nvSpPr>
          <p:cNvPr id="3" name="engine card 1"/>
          <p:cNvSpPr/>
          <p:nvPr/>
        </p:nvSpPr>
        <p:spPr>
          <a:xfrm>
            <a:off x="8168335" y="146304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מנוע אנשים circle"/>
          <p:cNvSpPr/>
          <p:nvPr/>
        </p:nvSpPr>
        <p:spPr>
          <a:xfrm>
            <a:off x="9448495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מנוע אנשים icon" descr="מנוע אנשי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7095" y="19659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96935" y="27432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מנוע אנשים</a:t>
            </a:r>
            <a:endParaRPr lang="he-IL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42655" y="3291840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מזהה: צוותים שמבצעים משימות חופפות, תפקידים כפולים אחרי מיזוגים, תורנויות מקבילות</a:t>
            </a:r>
            <a:endParaRPr lang="he-IL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442655" y="470916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accent1"/>
                </a:solidFill>
              </a:rPr>
              <a:t>ממליץ: איחוד תהליכים והסבת עובדים לפרויקטים מניבים — לא פיטורים</a:t>
            </a:r>
            <a:endParaRPr lang="he-IL" sz="1500" dirty="0"/>
          </a:p>
        </p:txBody>
      </p:sp>
      <p:sp>
        <p:nvSpPr>
          <p:cNvPr id="9" name="engine card 2"/>
          <p:cNvSpPr/>
          <p:nvPr/>
        </p:nvSpPr>
        <p:spPr>
          <a:xfrm>
            <a:off x="4364431" y="146304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מנוע כלים circle"/>
          <p:cNvSpPr/>
          <p:nvPr/>
        </p:nvSpPr>
        <p:spPr>
          <a:xfrm>
            <a:off x="5644591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מנוע כלים icon" descr="מנוע כלים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191" y="19659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93031" y="27432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מנוע כלים</a:t>
            </a:r>
            <a:endParaRPr lang="he-IL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38751" y="3291840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מזהה: רישיונות לא פעילים, כמה כלים לאותה מטרה (למשל 3 מערכות שיחות וידאו), חבילות מנוי מנופחות</a:t>
            </a:r>
            <a:endParaRPr lang="he-IL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638751" y="470916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accent1"/>
                </a:solidFill>
              </a:rPr>
              <a:t>ממליץ: איחוד ספקים, הורדת רמת מנוי, מו״מ חידוש מבוסס נתונים</a:t>
            </a:r>
            <a:endParaRPr lang="he-IL" sz="1500" dirty="0"/>
          </a:p>
        </p:txBody>
      </p:sp>
      <p:sp>
        <p:nvSpPr>
          <p:cNvPr id="15" name="engine card 3"/>
          <p:cNvSpPr/>
          <p:nvPr/>
        </p:nvSpPr>
        <p:spPr>
          <a:xfrm>
            <a:off x="560527" y="146304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מנוע חשמל circle"/>
          <p:cNvSpPr/>
          <p:nvPr/>
        </p:nvSpPr>
        <p:spPr>
          <a:xfrm>
            <a:off x="1840687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מנוע חשמל icon" descr="מנוע חשמל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287" y="19659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89127" y="27432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מנוע חשמל</a:t>
            </a:r>
            <a:endParaRPr lang="he-IL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4847" y="3291840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מזהה: שרתים בניצול נמוך או 'זומבים', קירור עודף, עומסים בשעות תעריף יקרות</a:t>
            </a:r>
            <a:endParaRPr lang="he-IL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34847" y="470916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accent1"/>
                </a:solidFill>
              </a:rPr>
              <a:t>ממליץ: כיבוי ואיחוד שרתים, וירטואליזציה, הזזת עומסים לשעות זולות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״מבחן הרווח״: חוסכים רק במה שלא פוגע בהכנסות</a:t>
            </a:r>
            <a:endParaRPr lang="he-IL" sz="3200" dirty="0"/>
          </a:p>
        </p:txBody>
      </p:sp>
      <p:sp>
        <p:nvSpPr>
          <p:cNvPr id="3" name="quadrant low"/>
          <p:cNvSpPr/>
          <p:nvPr/>
        </p:nvSpPr>
        <p:spPr>
          <a:xfrm>
            <a:off x="822960" y="3657600"/>
            <a:ext cx="25603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uadrant sweet spot"/>
          <p:cNvSpPr/>
          <p:nvPr/>
        </p:nvSpPr>
        <p:spPr>
          <a:xfrm>
            <a:off x="3383280" y="3657600"/>
            <a:ext cx="2560320" cy="2103120"/>
          </a:xfrm>
          <a:prstGeom prst="rect">
            <a:avLst/>
          </a:prstGeom>
          <a:solidFill>
            <a:srgbClr val="D7EDE2"/>
          </a:solidFill>
          <a:ln w="12700">
            <a:solidFill>
              <a:srgbClr val="D7EDE2"/>
            </a:solidFill>
            <a:prstDash val="solid"/>
          </a:ln>
        </p:spPr>
      </p:sp>
      <p:sp>
        <p:nvSpPr>
          <p:cNvPr id="5" name="quadrant avoid"/>
          <p:cNvSpPr/>
          <p:nvPr/>
        </p:nvSpPr>
        <p:spPr>
          <a:xfrm>
            <a:off x="822960" y="1554480"/>
            <a:ext cx="2560320" cy="2103120"/>
          </a:xfrm>
          <a:prstGeom prst="rect">
            <a:avLst/>
          </a:prstGeom>
          <a:solidFill>
            <a:srgbClr val="F6F6F6"/>
          </a:solidFill>
          <a:ln w="12700">
            <a:solidFill>
              <a:srgbClr val="F6F6F6"/>
            </a:solidFill>
            <a:prstDash val="solid"/>
          </a:ln>
        </p:spPr>
      </p:sp>
      <p:sp>
        <p:nvSpPr>
          <p:cNvPr id="6" name="quadrant review"/>
          <p:cNvSpPr/>
          <p:nvPr/>
        </p:nvSpPr>
        <p:spPr>
          <a:xfrm>
            <a:off x="3383280" y="1554480"/>
            <a:ext cx="2560320" cy="2103120"/>
          </a:xfrm>
          <a:prstGeom prst="rect">
            <a:avLst/>
          </a:prstGeom>
          <a:solidFill>
            <a:srgbClr val="FBF1D3"/>
          </a:solidFill>
          <a:ln w="12700">
            <a:solidFill>
              <a:srgbClr val="FBF1D3"/>
            </a:solidFill>
            <a:prstDash val="solid"/>
          </a:ln>
        </p:spPr>
      </p:sp>
      <p:sp>
        <p:nvSpPr>
          <p:cNvPr id="7" name="x axis"/>
          <p:cNvSpPr/>
          <p:nvPr/>
        </p:nvSpPr>
        <p:spPr>
          <a:xfrm>
            <a:off x="822960" y="5760720"/>
            <a:ext cx="512064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y axis"/>
          <p:cNvSpPr/>
          <p:nvPr/>
        </p:nvSpPr>
        <p:spPr>
          <a:xfrm>
            <a:off x="822960" y="1554480"/>
            <a:ext cx="0" cy="420624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headEnd type="triangle"/>
          </a:ln>
        </p:spPr>
      </p:sp>
      <p:sp>
        <p:nvSpPr>
          <p:cNvPr id="9" name="Text 7"/>
          <p:cNvSpPr txBox="1"/>
          <p:nvPr/>
        </p:nvSpPr>
        <p:spPr>
          <a:xfrm>
            <a:off x="3749040" y="58064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chemeClr val="tx1"/>
                </a:solidFill>
              </a:rPr>
              <a:t>חיסכון שנתי</a:t>
            </a:r>
            <a:endParaRPr lang="he-IL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1704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he-IL" altLang="en-US" sz="1200" dirty="0">
                <a:solidFill>
                  <a:schemeClr val="tx1"/>
                </a:solidFill>
              </a:rPr>
              <a:t>סיכון להכנסות / SLA</a:t>
            </a:r>
            <a:endParaRPr lang="he-IL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5303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accent1"/>
                </a:solidFill>
              </a:rPr>
              <a:t>מבצעים מיד</a:t>
            </a:r>
            <a:endParaRPr lang="he-IL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8A6A00"/>
                </a:solidFill>
              </a:rPr>
              <a:t>בדיקה עם בעלי עניין</a:t>
            </a:r>
            <a:endParaRPr lang="he-IL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accent4"/>
                </a:solidFill>
              </a:rPr>
              <a:t>לא מומלץ</a:t>
            </a:r>
            <a:endParaRPr lang="he-IL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303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tx1"/>
                </a:solidFill>
              </a:rPr>
              <a:t>ניצחונות קטנים</a:t>
            </a:r>
            <a:endParaRPr lang="he-IL" sz="1400" dirty="0"/>
          </a:p>
        </p:txBody>
      </p:sp>
      <p:sp>
        <p:nvSpPr>
          <p:cNvPr id="15" name="recommendation dot 1"/>
          <p:cNvSpPr/>
          <p:nvPr/>
        </p:nvSpPr>
        <p:spPr>
          <a:xfrm>
            <a:off x="4679899" y="457200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commendation dot 2"/>
          <p:cNvSpPr/>
          <p:nvPr/>
        </p:nvSpPr>
        <p:spPr>
          <a:xfrm>
            <a:off x="4014216" y="415137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commendation dot 3"/>
          <p:cNvSpPr/>
          <p:nvPr/>
        </p:nvSpPr>
        <p:spPr>
          <a:xfrm>
            <a:off x="5191963" y="49926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commendation dot 4"/>
          <p:cNvSpPr/>
          <p:nvPr/>
        </p:nvSpPr>
        <p:spPr>
          <a:xfrm>
            <a:off x="2221992" y="4361688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recommendation dot 5"/>
          <p:cNvSpPr/>
          <p:nvPr/>
        </p:nvSpPr>
        <p:spPr>
          <a:xfrm>
            <a:off x="4270248" y="2595067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commendation dot 6"/>
          <p:cNvSpPr/>
          <p:nvPr/>
        </p:nvSpPr>
        <p:spPr>
          <a:xfrm>
            <a:off x="1965960" y="2258568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השפעה על הכנסות circle"/>
          <p:cNvSpPr/>
          <p:nvPr/>
        </p:nvSpPr>
        <p:spPr>
          <a:xfrm>
            <a:off x="10820095" y="160020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2" name="השפעה על הכנסות icon" descr="השפעה על הכנסות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1805940"/>
            <a:ext cx="411480" cy="41148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6400800" y="1554480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chemeClr val="tx2"/>
                </a:solidFill>
              </a:rPr>
              <a:t>השפעה על הכנסות</a:t>
            </a:r>
            <a:endParaRPr lang="he-IL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196596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האם הכלי, השרת או הצוות תומכים בלקוח משלם?</a:t>
            </a:r>
            <a:endParaRPr lang="he-IL" sz="1500" dirty="0"/>
          </a:p>
        </p:txBody>
      </p:sp>
      <p:sp>
        <p:nvSpPr>
          <p:cNvPr id="25" name="רמת שירות (SLA) circle"/>
          <p:cNvSpPr/>
          <p:nvPr/>
        </p:nvSpPr>
        <p:spPr>
          <a:xfrm>
            <a:off x="10820095" y="297180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רמת שירות (SLA) icon" descr="רמת שירות (SLA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835" y="3177540"/>
            <a:ext cx="411480" cy="41148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400800" y="2926080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chemeClr val="tx2"/>
                </a:solidFill>
              </a:rPr>
              <a:t>רמת שירות (SLA)</a:t>
            </a:r>
            <a:endParaRPr lang="he-IL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6400800" y="333756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סימולציה של זמני תגובה וזמינות אחרי השינוי</a:t>
            </a:r>
            <a:endParaRPr lang="he-IL" sz="1500" dirty="0"/>
          </a:p>
        </p:txBody>
      </p:sp>
      <p:sp>
        <p:nvSpPr>
          <p:cNvPr id="29" name="הוגנות ושקיפות circle"/>
          <p:cNvSpPr/>
          <p:nvPr/>
        </p:nvSpPr>
        <p:spPr>
          <a:xfrm>
            <a:off x="10820095" y="434340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הוגנות ושקיפות icon" descr="הוגנות ושקיפות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5835" y="4549140"/>
            <a:ext cx="411480" cy="4114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00800" y="4297680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chemeClr val="tx2"/>
                </a:solidFill>
              </a:rPr>
              <a:t>הוגנות ושקיפות</a:t>
            </a:r>
            <a:endParaRPr lang="he-IL" sz="1900" dirty="0"/>
          </a:p>
        </p:txBody>
      </p:sp>
      <p:sp>
        <p:nvSpPr>
          <p:cNvPr id="32" name="Text 27"/>
          <p:cNvSpPr txBox="1"/>
          <p:nvPr/>
        </p:nvSpPr>
        <p:spPr>
          <a:xfrm>
            <a:off x="6400800" y="470916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המלצות על אנשים עוברות בקרת watsonx.governance</a:t>
            </a:r>
            <a:endParaRPr lang="he-IL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6400800" y="5623560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600" b="1" i="1" dirty="0">
                <a:solidFill>
                  <a:schemeClr val="accent1"/>
                </a:solidFill>
              </a:rPr>
              <a:t>רק המלצות עם חיסכון נקי חיובי מגיעות למנהל</a:t>
            </a:r>
            <a:endParaRPr lang="he-I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תרחיש לדוגמה: חברה של 800 עובדים</a:t>
            </a:r>
            <a:endParaRPr lang="he-IL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 card 1"/>
          <p:cNvSpPr/>
          <p:nvPr/>
        </p:nvSpPr>
        <p:spPr>
          <a:xfrm>
            <a:off x="7589520" y="1463040"/>
            <a:ext cx="4050792" cy="1280160"/>
          </a:xfrm>
          <a:prstGeom prst="roundRect">
            <a:avLst>
              <a:gd name="adj" fmla="val 85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0" y="1536192"/>
            <a:ext cx="3685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600" b="1" dirty="0">
                <a:solidFill>
                  <a:schemeClr val="accent2"/>
                </a:solidFill>
              </a:rPr>
              <a:t>₪2.6M</a:t>
            </a:r>
            <a:endParaRPr lang="he-IL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240280"/>
            <a:ext cx="36850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bg1"/>
                </a:solidFill>
              </a:rPr>
              <a:t>חיסכון שנתי פוטנציאלי</a:t>
            </a:r>
            <a:endParaRPr lang="he-IL" sz="1500" dirty="0"/>
          </a:p>
        </p:txBody>
      </p:sp>
      <p:sp>
        <p:nvSpPr>
          <p:cNvPr id="7" name="stat card 2"/>
          <p:cNvSpPr/>
          <p:nvPr/>
        </p:nvSpPr>
        <p:spPr>
          <a:xfrm>
            <a:off x="7589520" y="2926080"/>
            <a:ext cx="405079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2999232"/>
            <a:ext cx="3685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600" b="1" dirty="0">
                <a:solidFill>
                  <a:schemeClr val="accent1"/>
                </a:solidFill>
              </a:rPr>
              <a:t>0%</a:t>
            </a:r>
            <a:endParaRPr lang="he-IL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703320"/>
            <a:ext cx="36850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פגיעה צפויה בהכנסות</a:t>
            </a:r>
            <a:endParaRPr lang="he-IL" sz="1500" dirty="0"/>
          </a:p>
        </p:txBody>
      </p:sp>
      <p:sp>
        <p:nvSpPr>
          <p:cNvPr id="10" name="stat card 3"/>
          <p:cNvSpPr/>
          <p:nvPr/>
        </p:nvSpPr>
        <p:spPr>
          <a:xfrm>
            <a:off x="7589520" y="4389120"/>
            <a:ext cx="405079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0" y="4462272"/>
            <a:ext cx="3685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600" b="1" dirty="0">
                <a:solidFill>
                  <a:schemeClr val="accent1"/>
                </a:solidFill>
              </a:rPr>
              <a:t>כ-120</a:t>
            </a:r>
            <a:endParaRPr lang="he-IL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5166360"/>
            <a:ext cx="36850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טון CO₂ פחות בשנה</a:t>
            </a:r>
            <a:endParaRPr lang="he-IL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100" i="1" dirty="0">
                <a:solidFill>
                  <a:schemeClr val="accent4"/>
                </a:solidFill>
              </a:rPr>
              <a:t>* נתונים להמחשה בלבד — יאומתו בפיילוט</a:t>
            </a:r>
            <a:endParaRPr lang="he-I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הזמן הנכון: לחץ תקציבי, AI ועלויות חשמל</a:t>
            </a:r>
            <a:endParaRPr lang="he-IL" sz="3200" dirty="0"/>
          </a:p>
        </p:txBody>
      </p:sp>
      <p:sp>
        <p:nvSpPr>
          <p:cNvPr id="3" name="market stat card"/>
          <p:cNvSpPr/>
          <p:nvPr/>
        </p:nvSpPr>
        <p:spPr>
          <a:xfrm>
            <a:off x="548640" y="146304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8000" b="1" dirty="0">
                <a:solidFill>
                  <a:schemeClr val="accent2"/>
                </a:solidFill>
              </a:rPr>
              <a:t>x2</a:t>
            </a:r>
            <a:endParaRPr lang="he-IL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800" b="1" dirty="0">
                <a:solidFill>
                  <a:schemeClr val="bg1"/>
                </a:solidFill>
              </a:rPr>
              <a:t>צריכת החשמל של מרכזי נתונים צפויה יותר מלהכפיל את עצמה עד 2030</a:t>
            </a:r>
            <a:endParaRPr lang="he-I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20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bg2"/>
                </a:solidFill>
              </a:rPr>
              <a:t>IEA, Energy and AI, 2025</a:t>
            </a:r>
            <a:endParaRPr lang="he-IL" sz="1100" dirty="0"/>
          </a:p>
        </p:txBody>
      </p:sp>
      <p:sp>
        <p:nvSpPr>
          <p:cNvPr id="7" name="הלקוח שלנו circle"/>
          <p:cNvSpPr/>
          <p:nvPr/>
        </p:nvSpPr>
        <p:spPr>
          <a:xfrm>
            <a:off x="10820095" y="1508760"/>
            <a:ext cx="822960" cy="82296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הלקוח שלנו icon" descr="הלקוח שלנ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17145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212080" y="1463040"/>
            <a:ext cx="5440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הלקוח שלנו</a:t>
            </a:r>
            <a:endParaRPr lang="he-IL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212080" y="1892808"/>
            <a:ext cx="5440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מנהלי IT ו-CIO בארגונים של 200–5,000 עובדים, שנדרשים לחסוך בלי לעצור את העסק</a:t>
            </a:r>
            <a:endParaRPr lang="he-IL" sz="1500" dirty="0"/>
          </a:p>
        </p:txBody>
      </p:sp>
      <p:sp>
        <p:nvSpPr>
          <p:cNvPr id="11" name="לחץ על תקציבי IT circle"/>
          <p:cNvSpPr/>
          <p:nvPr/>
        </p:nvSpPr>
        <p:spPr>
          <a:xfrm>
            <a:off x="10820095" y="3017520"/>
            <a:ext cx="822960" cy="82296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לחץ על תקציבי IT icon" descr="לחץ על תקציבי 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835" y="32232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2971800"/>
            <a:ext cx="5440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לחץ על תקציבי IT</a:t>
            </a:r>
            <a:endParaRPr lang="he-IL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5212080" y="3401568"/>
            <a:ext cx="5440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הוצאות AI וענן עולות, והנהלות דורשות להראות לאן הולך כל שקל</a:t>
            </a:r>
            <a:endParaRPr lang="he-IL" sz="1500" dirty="0"/>
          </a:p>
        </p:txBody>
      </p:sp>
      <p:sp>
        <p:nvSpPr>
          <p:cNvPr id="15" name="רגולציית ESG circle"/>
          <p:cNvSpPr/>
          <p:nvPr/>
        </p:nvSpPr>
        <p:spPr>
          <a:xfrm>
            <a:off x="10820095" y="4526280"/>
            <a:ext cx="822960" cy="82296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רגולציית ESG icon" descr="רגולציית ES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5835" y="47320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12080" y="4480560"/>
            <a:ext cx="5440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chemeClr val="tx2"/>
                </a:solidFill>
              </a:rPr>
              <a:t>רגולציית ESG</a:t>
            </a:r>
            <a:endParaRPr lang="he-IL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5212080" y="4910328"/>
            <a:ext cx="5440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דרישות דיווח על צריכת אנרגיה ופליטות הופכות חיסכון בחשמל ליעד עסקי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מודל עסקי: הלקוח משלם כשהוא חוסך</a:t>
            </a:r>
            <a:endParaRPr lang="he-IL" sz="3200" dirty="0"/>
          </a:p>
        </p:txBody>
      </p:sp>
      <p:sp>
        <p:nvSpPr>
          <p:cNvPr id="3" name="model card 1"/>
          <p:cNvSpPr/>
          <p:nvPr/>
        </p:nvSpPr>
        <p:spPr>
          <a:xfrm>
            <a:off x="8168335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מנוי SaaS circle"/>
          <p:cNvSpPr/>
          <p:nvPr/>
        </p:nvSpPr>
        <p:spPr>
          <a:xfrm>
            <a:off x="10545775" y="18745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מנוי SaaS icon" descr="מנוי Sa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0085" y="206883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42655" y="19659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מנוי SaaS</a:t>
            </a:r>
            <a:endParaRPr lang="he-IL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42655" y="288036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תשלום חודשי לפי מספר עובדים בארגון — כולל דשבורד, התראות ודוחות</a:t>
            </a:r>
            <a:endParaRPr lang="he-IL" sz="1600" dirty="0"/>
          </a:p>
        </p:txBody>
      </p:sp>
      <p:sp>
        <p:nvSpPr>
          <p:cNvPr id="8" name="model card 2"/>
          <p:cNvSpPr/>
          <p:nvPr/>
        </p:nvSpPr>
        <p:spPr>
          <a:xfrm>
            <a:off x="4364431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דמי הצלחה circle"/>
          <p:cNvSpPr/>
          <p:nvPr/>
        </p:nvSpPr>
        <p:spPr>
          <a:xfrm>
            <a:off x="6741871" y="18745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דמי הצלחה icon" descr="דמי הצלח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6181" y="206883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38751" y="19659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דמי הצלחה</a:t>
            </a:r>
            <a:endParaRPr lang="he-IL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38751" y="288036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אחוז מהחיסכון המאומת בשנה הראשונה — אנחנו מרוויחים רק כשהלקוח חוסך</a:t>
            </a:r>
            <a:endParaRPr lang="he-IL" sz="1600" dirty="0"/>
          </a:p>
        </p:txBody>
      </p:sp>
      <p:sp>
        <p:nvSpPr>
          <p:cNvPr id="13" name="model card 3"/>
          <p:cNvSpPr/>
          <p:nvPr/>
        </p:nvSpPr>
        <p:spPr>
          <a:xfrm>
            <a:off x="560527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ערוץ IBM circle"/>
          <p:cNvSpPr/>
          <p:nvPr/>
        </p:nvSpPr>
        <p:spPr>
          <a:xfrm>
            <a:off x="2937967" y="18745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ערוץ IBM icon" descr="ערוץ IB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2277" y="206883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4847" y="19659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ערוץ IBM</a:t>
            </a:r>
            <a:endParaRPr lang="he-IL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4847" y="288036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הפצה דרך מערך השותפים של IBM כהרחבה ללקוחות Apptio ו-Turbonomic</a:t>
            </a:r>
            <a:endParaRPr lang="he-IL" sz="1600" dirty="0"/>
          </a:p>
        </p:txBody>
      </p:sp>
      <p:sp>
        <p:nvSpPr>
          <p:cNvPr id="18" name="value band"/>
          <p:cNvSpPr/>
          <p:nvPr/>
        </p:nvSpPr>
        <p:spPr>
          <a:xfrm>
            <a:off x="548640" y="5166360"/>
            <a:ext cx="110916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chemeClr val="bg1"/>
                </a:solidFill>
              </a:rPr>
              <a:t>החזר השקעה כבר ברבעון הראשון: החיסכון בכלים לבדו מכסה את עלות המנוי</a:t>
            </a:r>
            <a:endParaRPr lang="he-I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בנוי על טכנולוגיות IBM</a:t>
            </a:r>
            <a:endParaRPr lang="he-IL" sz="3200" dirty="0"/>
          </a:p>
        </p:txBody>
      </p:sp>
      <p:sp>
        <p:nvSpPr>
          <p:cNvPr id="3" name="architecture column 1"/>
          <p:cNvSpPr/>
          <p:nvPr/>
        </p:nvSpPr>
        <p:spPr>
          <a:xfrm>
            <a:off x="8351215" y="1463040"/>
            <a:ext cx="3291840" cy="4480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579815" y="16459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מקורות נתונים</a:t>
            </a:r>
            <a:endParaRPr lang="he-IL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579815" y="2377440"/>
            <a:ext cx="28346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tx1"/>
                </a:solidFill>
              </a:rPr>
              <a:t>HR ומערכות משימות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tx1"/>
                </a:solidFill>
              </a:rPr>
              <a:t>ITSM וכרטיסי תמיכה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tx1"/>
                </a:solidFill>
              </a:rPr>
              <a:t>רכש ורישיונות SaaS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tx1"/>
                </a:solidFill>
              </a:rPr>
              <a:t>ענן ושרתים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tx1"/>
                </a:solidFill>
              </a:rPr>
              <a:t>מוני חשמל ו-BMS</a:t>
            </a:r>
            <a:endParaRPr lang="he-IL" sz="1600" dirty="0"/>
          </a:p>
        </p:txBody>
      </p:sp>
      <p:pic>
        <p:nvPicPr>
          <p:cNvPr id="6" name="arch arrow 1" descr="ח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6583" y="3520440"/>
            <a:ext cx="365760" cy="365760"/>
          </a:xfrm>
          <a:prstGeom prst="rect">
            <a:avLst/>
          </a:prstGeom>
        </p:spPr>
      </p:pic>
      <p:sp>
        <p:nvSpPr>
          <p:cNvPr id="7" name="architecture column 2"/>
          <p:cNvSpPr/>
          <p:nvPr/>
        </p:nvSpPr>
        <p:spPr>
          <a:xfrm>
            <a:off x="4455871" y="1463040"/>
            <a:ext cx="3291840" cy="4480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84471" y="16459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accent2"/>
                </a:solidFill>
              </a:rPr>
              <a:t>שכבת הניתוח</a:t>
            </a:r>
            <a:endParaRPr lang="he-IL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684471" y="2377440"/>
            <a:ext cx="28346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bg1"/>
                </a:solidFill>
              </a:rPr>
              <a:t>watsonx.ai — זיהוי כפילויות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bg1"/>
                </a:solidFill>
              </a:rPr>
              <a:t>Apptio — עלויות IT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bg1"/>
                </a:solidFill>
              </a:rPr>
              <a:t>Turbonomic — ניצול משאבים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bg1"/>
                </a:solidFill>
              </a:rPr>
              <a:t>Envizi — אנרגיה ופליטות</a:t>
            </a:r>
            <a:endParaRPr lang="he-IL" sz="1600" dirty="0"/>
          </a:p>
        </p:txBody>
      </p:sp>
      <p:pic>
        <p:nvPicPr>
          <p:cNvPr id="10" name="arch arrow 2" descr="ח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239" y="3520440"/>
            <a:ext cx="365760" cy="365760"/>
          </a:xfrm>
          <a:prstGeom prst="rect">
            <a:avLst/>
          </a:prstGeom>
        </p:spPr>
      </p:pic>
      <p:sp>
        <p:nvSpPr>
          <p:cNvPr id="11" name="architecture column 3"/>
          <p:cNvSpPr/>
          <p:nvPr/>
        </p:nvSpPr>
        <p:spPr>
          <a:xfrm>
            <a:off x="560527" y="1463040"/>
            <a:ext cx="3291840" cy="4480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9127" y="16459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accent2"/>
                </a:solidFill>
              </a:rPr>
              <a:t>בקרה ותוצר</a:t>
            </a:r>
            <a:endParaRPr lang="he-IL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789127" y="2377440"/>
            <a:ext cx="28346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bg1"/>
                </a:solidFill>
              </a:rPr>
              <a:t>watsonx.governance — שקיפות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bg1"/>
                </a:solidFill>
              </a:rPr>
              <a:t>מבחן הרווח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bg1"/>
                </a:solidFill>
              </a:rPr>
              <a:t>דשבורד ניהולי</a:t>
            </a:r>
            <a:endParaRPr lang="he-IL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he-IL" altLang="en-US" sz="1600" dirty="0">
                <a:solidFill>
                  <a:schemeClr val="bg1"/>
                </a:solidFill>
              </a:rPr>
              <a:t>עוזר שיחה: ״איפה הכסף?״</a:t>
            </a:r>
            <a:endParaRPr lang="he-I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מפת דרכים ל-12 חודשים</a:t>
            </a:r>
            <a:endParaRPr lang="he-IL" sz="3200" dirty="0"/>
          </a:p>
        </p:txBody>
      </p:sp>
      <p:sp>
        <p:nvSpPr>
          <p:cNvPr id="3" name="timeline line"/>
          <p:cNvSpPr/>
          <p:nvPr/>
        </p:nvSpPr>
        <p:spPr>
          <a:xfrm>
            <a:off x="1097280" y="2743200"/>
            <a:ext cx="996696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4" name="milestone 1"/>
          <p:cNvSpPr/>
          <p:nvPr/>
        </p:nvSpPr>
        <p:spPr>
          <a:xfrm>
            <a:off x="10111435" y="2468880"/>
            <a:ext cx="548640" cy="54864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28455" y="187452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accent4"/>
                </a:solidFill>
              </a:rPr>
              <a:t>רבעון 1</a:t>
            </a:r>
            <a:endParaRPr lang="he-IL" sz="1500" dirty="0"/>
          </a:p>
        </p:txBody>
      </p:sp>
      <p:sp>
        <p:nvSpPr>
          <p:cNvPr id="6" name="milestone card 1"/>
          <p:cNvSpPr/>
          <p:nvPr/>
        </p:nvSpPr>
        <p:spPr>
          <a:xfrm>
            <a:off x="9128455" y="329184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11335" y="34290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MVP</a:t>
            </a:r>
            <a:endParaRPr lang="he-IL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311335" y="397764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מנועי כלים וחשמל, חיבור ל-Apptio ו-Turbonomic</a:t>
            </a:r>
            <a:endParaRPr lang="he-IL" sz="1500" dirty="0"/>
          </a:p>
        </p:txBody>
      </p:sp>
      <p:sp>
        <p:nvSpPr>
          <p:cNvPr id="9" name="milestone 2"/>
          <p:cNvSpPr/>
          <p:nvPr/>
        </p:nvSpPr>
        <p:spPr>
          <a:xfrm>
            <a:off x="7249363" y="246888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6383" y="187452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accent4"/>
                </a:solidFill>
              </a:rPr>
              <a:t>רבעון 2</a:t>
            </a:r>
            <a:endParaRPr lang="he-IL" sz="1500" dirty="0"/>
          </a:p>
        </p:txBody>
      </p:sp>
      <p:sp>
        <p:nvSpPr>
          <p:cNvPr id="11" name="milestone card 2"/>
          <p:cNvSpPr/>
          <p:nvPr/>
        </p:nvSpPr>
        <p:spPr>
          <a:xfrm>
            <a:off x="6266383" y="329184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9263" y="34290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פיילוט</a:t>
            </a:r>
            <a:endParaRPr lang="he-IL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449263" y="397764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2 ארגונים, מדידת חיסכון מאומת מול קו בסיס</a:t>
            </a:r>
            <a:endParaRPr lang="he-IL" sz="1500" dirty="0"/>
          </a:p>
        </p:txBody>
      </p:sp>
      <p:sp>
        <p:nvSpPr>
          <p:cNvPr id="14" name="milestone 3"/>
          <p:cNvSpPr/>
          <p:nvPr/>
        </p:nvSpPr>
        <p:spPr>
          <a:xfrm>
            <a:off x="4387291" y="246888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04311" y="187452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accent4"/>
                </a:solidFill>
              </a:rPr>
              <a:t>רבעון 3</a:t>
            </a:r>
            <a:endParaRPr lang="he-IL" sz="1500" dirty="0"/>
          </a:p>
        </p:txBody>
      </p:sp>
      <p:sp>
        <p:nvSpPr>
          <p:cNvPr id="16" name="milestone card 3"/>
          <p:cNvSpPr/>
          <p:nvPr/>
        </p:nvSpPr>
        <p:spPr>
          <a:xfrm>
            <a:off x="3404311" y="329184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87191" y="34290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מנוע אנשים</a:t>
            </a:r>
            <a:endParaRPr lang="he-IL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587191" y="397764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הוספת ניתוח כפילויות משימות עם watsonx.governance</a:t>
            </a:r>
            <a:endParaRPr lang="he-IL" sz="1500" dirty="0"/>
          </a:p>
        </p:txBody>
      </p:sp>
      <p:sp>
        <p:nvSpPr>
          <p:cNvPr id="19" name="milestone 4"/>
          <p:cNvSpPr/>
          <p:nvPr/>
        </p:nvSpPr>
        <p:spPr>
          <a:xfrm>
            <a:off x="1525219" y="246888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2239" y="187452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accent4"/>
                </a:solidFill>
              </a:rPr>
              <a:t>רבעון 4</a:t>
            </a:r>
            <a:endParaRPr lang="he-IL" sz="1500" dirty="0"/>
          </a:p>
        </p:txBody>
      </p:sp>
      <p:sp>
        <p:nvSpPr>
          <p:cNvPr id="21" name="milestone card 4"/>
          <p:cNvSpPr/>
          <p:nvPr/>
        </p:nvSpPr>
        <p:spPr>
          <a:xfrm>
            <a:off x="542239" y="329184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" y="34290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השקה</a:t>
            </a:r>
            <a:endParaRPr lang="he-IL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25119" y="397764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הפצה דרך שותפי IBM ו-10 לקוחות משלמים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tx2"/>
                </a:solidFill>
              </a:rPr>
              <a:t>הצוות</a:t>
            </a:r>
            <a:endParaRPr lang="he-IL" sz="3200" dirty="0"/>
          </a:p>
        </p:txBody>
      </p:sp>
      <p:sp>
        <p:nvSpPr>
          <p:cNvPr id="3" name="team card 1"/>
          <p:cNvSpPr/>
          <p:nvPr/>
        </p:nvSpPr>
        <p:spPr>
          <a:xfrm>
            <a:off x="8168335" y="155448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חבר/ת צוות 1 circle"/>
          <p:cNvSpPr/>
          <p:nvPr/>
        </p:nvSpPr>
        <p:spPr>
          <a:xfrm>
            <a:off x="9219895" y="1920240"/>
            <a:ext cx="1371600" cy="13716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חבר/ת צוות 1 icon" descr="חבר/ת צוות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2795" y="2263140"/>
            <a:ext cx="68580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96935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[שם מלא]</a:t>
            </a:r>
            <a:endParaRPr lang="he-IL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396935" y="4023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accent1"/>
                </a:solidFill>
              </a:rPr>
              <a:t>[תפקיד — למשל: מובילת מוצר]</a:t>
            </a:r>
            <a:endParaRPr lang="he-IL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396935" y="452628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[ניסיון רלוונטי]</a:t>
            </a:r>
            <a:endParaRPr lang="he-IL" sz="1500" dirty="0"/>
          </a:p>
        </p:txBody>
      </p:sp>
      <p:sp>
        <p:nvSpPr>
          <p:cNvPr id="9" name="team card 2"/>
          <p:cNvSpPr/>
          <p:nvPr/>
        </p:nvSpPr>
        <p:spPr>
          <a:xfrm>
            <a:off x="4364431" y="155448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חבר/ת צוות 2 circle"/>
          <p:cNvSpPr/>
          <p:nvPr/>
        </p:nvSpPr>
        <p:spPr>
          <a:xfrm>
            <a:off x="5415991" y="1920240"/>
            <a:ext cx="1371600" cy="13716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חבר/ת צוות 2 icon" descr="חבר/ת צוות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8891" y="2263140"/>
            <a:ext cx="685800" cy="685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93031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[שם מלא]</a:t>
            </a:r>
            <a:endParaRPr lang="he-IL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593031" y="4023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accent1"/>
                </a:solidFill>
              </a:rPr>
              <a:t>[תפקיד — למשל: Data / AI]</a:t>
            </a:r>
            <a:endParaRPr lang="he-IL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93031" y="452628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[ניסיון רלוונטי]</a:t>
            </a:r>
            <a:endParaRPr lang="he-IL" sz="1500" dirty="0"/>
          </a:p>
        </p:txBody>
      </p:sp>
      <p:sp>
        <p:nvSpPr>
          <p:cNvPr id="15" name="team card 3"/>
          <p:cNvSpPr/>
          <p:nvPr/>
        </p:nvSpPr>
        <p:spPr>
          <a:xfrm>
            <a:off x="560527" y="155448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חבר/ת צוות 3 circle"/>
          <p:cNvSpPr/>
          <p:nvPr/>
        </p:nvSpPr>
        <p:spPr>
          <a:xfrm>
            <a:off x="1612087" y="1920240"/>
            <a:ext cx="1371600" cy="13716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חבר/ת צוות 3 icon" descr="חבר/ת צוות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4987" y="2263140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89127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[שם מלא]</a:t>
            </a:r>
            <a:endParaRPr lang="he-IL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789127" y="4023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accent1"/>
                </a:solidFill>
              </a:rPr>
              <a:t>[תפקיד — למשל: פיתוח]</a:t>
            </a:r>
            <a:endParaRPr lang="he-IL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789127" y="452628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tx1"/>
                </a:solidFill>
              </a:rPr>
              <a:t>[ניסיון רלוונטי]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3600" b="1" dirty="0">
                <a:solidFill>
                  <a:schemeClr val="bg1"/>
                </a:solidFill>
              </a:rPr>
              <a:t>מה אנחנו מבקשים מ-IBM</a:t>
            </a:r>
            <a:endParaRPr lang="he-IL" sz="3600" dirty="0"/>
          </a:p>
        </p:txBody>
      </p:sp>
      <p:sp>
        <p:nvSpPr>
          <p:cNvPr id="3" name="ask card 1"/>
          <p:cNvSpPr/>
          <p:nvPr/>
        </p:nvSpPr>
        <p:spPr>
          <a:xfrm>
            <a:off x="8168335" y="1737360"/>
            <a:ext cx="3474720" cy="2651760"/>
          </a:xfrm>
          <a:prstGeom prst="roundRect">
            <a:avLst>
              <a:gd name="adj" fmla="val 41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גישה לטכנולוגיה circle"/>
          <p:cNvSpPr/>
          <p:nvPr/>
        </p:nvSpPr>
        <p:spPr>
          <a:xfrm>
            <a:off x="9494215" y="201168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גישה לטכנולוגיה icon" descr="גישה לטכנולוגי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9955" y="22174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96935" y="29718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100" b="1" dirty="0">
                <a:solidFill>
                  <a:schemeClr val="bg1"/>
                </a:solidFill>
              </a:rPr>
              <a:t>גישה לטכנולוגיה</a:t>
            </a:r>
            <a:endParaRPr lang="he-IL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396935" y="34747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bg1"/>
                </a:solidFill>
              </a:rPr>
              <a:t>סביבת watsonx, Apptio ו-Turbonomic לפיתוח</a:t>
            </a:r>
            <a:endParaRPr lang="he-IL" sz="1500" dirty="0"/>
          </a:p>
        </p:txBody>
      </p:sp>
      <p:sp>
        <p:nvSpPr>
          <p:cNvPr id="8" name="ask card 2"/>
          <p:cNvSpPr/>
          <p:nvPr/>
        </p:nvSpPr>
        <p:spPr>
          <a:xfrm>
            <a:off x="4364431" y="1737360"/>
            <a:ext cx="3474720" cy="2651760"/>
          </a:xfrm>
          <a:prstGeom prst="roundRect">
            <a:avLst>
              <a:gd name="adj" fmla="val 41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לקוח פיילוט circle"/>
          <p:cNvSpPr/>
          <p:nvPr/>
        </p:nvSpPr>
        <p:spPr>
          <a:xfrm>
            <a:off x="5690311" y="201168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לקוח פיילוט icon" descr="לקוח פיילו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51" y="22174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3031" y="29718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100" b="1" dirty="0">
                <a:solidFill>
                  <a:schemeClr val="bg1"/>
                </a:solidFill>
              </a:rPr>
              <a:t>לקוח פיילוט</a:t>
            </a:r>
            <a:endParaRPr lang="he-IL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593031" y="34747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bg1"/>
                </a:solidFill>
              </a:rPr>
              <a:t>חיבור לארגון אחד-שניים מלקוחות IBM</a:t>
            </a:r>
            <a:endParaRPr lang="he-IL" sz="1500" dirty="0"/>
          </a:p>
        </p:txBody>
      </p:sp>
      <p:sp>
        <p:nvSpPr>
          <p:cNvPr id="13" name="ask card 3"/>
          <p:cNvSpPr/>
          <p:nvPr/>
        </p:nvSpPr>
        <p:spPr>
          <a:xfrm>
            <a:off x="560527" y="1737360"/>
            <a:ext cx="3474720" cy="2651760"/>
          </a:xfrm>
          <a:prstGeom prst="roundRect">
            <a:avLst>
              <a:gd name="adj" fmla="val 41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ליווי מנטור circle"/>
          <p:cNvSpPr/>
          <p:nvPr/>
        </p:nvSpPr>
        <p:spPr>
          <a:xfrm>
            <a:off x="1886407" y="201168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ליווי מנטור icon" descr="ליווי מנטור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2147" y="221742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89127" y="29718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100" b="1" dirty="0">
                <a:solidFill>
                  <a:schemeClr val="bg1"/>
                </a:solidFill>
              </a:rPr>
              <a:t>ליווי מנטור</a:t>
            </a:r>
            <a:endParaRPr lang="he-IL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789127" y="34747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chemeClr val="bg1"/>
                </a:solidFill>
              </a:rPr>
              <a:t>מומחה FinOps / Sustainability מ-IBM</a:t>
            </a:r>
            <a:endParaRPr lang="he-IL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89204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800" b="1" i="1" dirty="0">
                <a:solidFill>
                  <a:schemeClr val="accent2"/>
                </a:solidFill>
              </a:rPr>
              <a:t>כל שקל שנחסך — בלי לפגוע באף שקל של רווח</a:t>
            </a:r>
            <a:endParaRPr lang="he-IL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600" dirty="0">
                <a:solidFill>
                  <a:schemeClr val="bg2"/>
                </a:solidFill>
              </a:rPr>
              <a:t>[שם הצוות]  ·  [מייל ליצירת קשר]</a:t>
            </a:r>
            <a:endParaRPr lang="he-IL" sz="1600" dirty="0"/>
          </a:p>
        </p:txBody>
      </p:sp>
      <p:sp>
        <p:nvSpPr>
          <p:cNvPr id="21" name="Text 0"/>
          <p:cNvSpPr/>
          <p:nvPr>
            <p:ph idx="100" type="title" hasCustomPrompt="1"/>
          </p:nvPr>
        </p:nvSpPr>
        <p:spPr>
          <a:xfrm>
            <a:off x="548640" y="20116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60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548640" y="356616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re Is The Money">
  <a:themeElements>
    <a:clrScheme name="Where Is The Money">
      <a:dk1>
        <a:srgbClr val="14231C"/>
      </a:dk1>
      <a:lt1>
        <a:srgbClr val="FFFFFF"/>
      </a:lt1>
      <a:dk2>
        <a:srgbClr val="0B3D2E"/>
      </a:dk2>
      <a:lt2>
        <a:srgbClr val="EEF5F1"/>
      </a:lt2>
      <a:accent1>
        <a:srgbClr val="1F7A5A"/>
      </a:accent1>
      <a:accent2>
        <a:srgbClr val="E0A800"/>
      </a:accent2>
      <a:accent3>
        <a:srgbClr val="5FB58E"/>
      </a:accent3>
      <a:accent4>
        <a:srgbClr val="9AA5A0"/>
      </a:accent4>
      <a:accent5>
        <a:srgbClr val="C8452F"/>
      </a:accent5>
      <a:accent6>
        <a:srgbClr val="2E5E8C"/>
      </a:accent6>
      <a:hlink>
        <a:srgbClr val="1F7A5A"/>
      </a:hlink>
      <a:folHlink>
        <a:srgbClr val="0B3D2E"/>
      </a:folHlink>
    </a:clrScheme>
    <a:fontScheme name="Where Is The Mone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איפה הכסף? – IBM Challenge</dc:title>
  <dc:subject>PptxGenJS Presentation</dc:subject>
  <dc:creator>PptxGenJS</dc:creator>
  <cp:lastModifiedBy>PptxGenJS</cp:lastModifiedBy>
  <cp:revision>1</cp:revision>
  <dcterms:created xsi:type="dcterms:W3CDTF">2026-11-01T10:39:21Z</dcterms:created>
  <dcterms:modified xsi:type="dcterms:W3CDTF">2026-11-01T10:39:21Z</dcterms:modified>
</cp:coreProperties>
</file>