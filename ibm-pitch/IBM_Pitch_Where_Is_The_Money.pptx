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פתיחה" id="{d8f832df-a32b-ec0d-8607-322285a58e63}">
          <p14:sldIdLst>
            <p14:sldId id="256"/>
          </p14:sldIdLst>
        </p14:section>
        <p14:section name="הבעיה" id="{9a111b3d-67f6-dadf-aadf-e103ee88b11f}">
          <p14:sldIdLst>
            <p14:sldId id="257"/>
            <p14:sldId id="258"/>
          </p14:sldIdLst>
        </p14:section>
        <p14:section name="הפתרון" id="{c515a890-45f8-767b-c561-c89a71fa1172}">
          <p14:sldIdLst>
            <p14:sldId id="259"/>
            <p14:sldId id="260"/>
            <p14:sldId id="261"/>
          </p14:sldIdLst>
        </p14:section>
        <p14:section name="ערך ושוק" id="{0fd27cfb-63b6-446f-b33b-f84c3483f6b0}">
          <p14:sldIdLst>
            <p14:sldId id="262"/>
            <p14:sldId id="263"/>
            <p14:sldId id="264"/>
          </p14:sldIdLst>
        </p14:section>
        <p14:section name="ביצוע" id="{d106c946-8135-ae00-20d6-fdf69bfac148}">
          <p14:sldIdLst>
            <p14:sldId id="265"/>
            <p14:sldId id="266"/>
            <p14:sldId id="267"/>
            <p14:sldId id="268"/>
            <p14:sldId id="269"/>
          </p14:sldIdLst>
        </p14:section>
        <p14:section name="סיכום" id="{2d369520-8cbd-e83f-0f67-d7917015488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D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3D2E"/>
                </a:solidFill>
                <a:latin typeface="+mn-lt"/>
              </a:rPr>
              <a:t>חיסכון שנתי פוטנציאלי לפי מקור (מיליון ₪)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חיסכון שנתי (מיליון ₪)</c:v>
                </c:pt>
              </c:strCache>
            </c:strRef>
          </c:tx>
          <c:spPr>
            <a:solidFill>
              <a:srgbClr val="1F7A5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423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חשמל וקירור</c:v>
                  </c:pt>
                  <c:pt idx="1">
                    <c:v>כפילויות עובדים (הסבה)</c:v>
                  </c:pt>
                  <c:pt idx="2">
                    <c:v>כלים ורישיונות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0.9</c:v>
                </c:pt>
                <c:pt idx="2">
                  <c:v>1.1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423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423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מי אנחנו ובמה נעסוק. משפט אחד: אנחנו עוזרים למנהל ה-IT לענות על השאלה 'איפה הכסף?' — ולחסוך בלי לפגוע ברווח.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שלושה מקורות דליפה: אנשים, כלים, חשמל. הנתונים קיימים — אבל מפוזרים. הסטטיסטיקות מגיעות מדוח Flexera State of the Cloud ומחקר Koomey &amp; Taylor על שרתים 'קומטוזים'. מומלץ לוודא את המספר העדכני לפני ההצגה.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הדגישו שהפתרונות הקיימים מצוינים — אבל כל אחד מכסה רק תחום אחד. הייחוד שלנו: תמונה אחת + 'מבחן רווח' לכל המלצה.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משפט המעלית ואז ארבעת השלבים. הדגישו את שלב 3 — זה מה שמבדיל אותנו.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מנוע האנשים רגיש: המטרה היא להעביר אנשים לעבודה בעלת ערך גבוה יותר, לא לצמצם. זה גם מה שמגן על הרווחיות.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כל נקודה במטריצה היא המלצה. המערכת מציגה למנהל קודם את הרביע הירוק — חיסכון גבוה, סיכון נמוך.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המספרים הם תרחיש המחשה, לא תוצאות בפועל. אם יש לכם נתונים מארגון אמיתי — החליפו אותם כאן.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שלוש מגמות שיוצרות דחיפות. נתון ה-IEA: צריכת חשמל של מרכזי נתונים צפויה להגיע לכ-945 TWh ב-2030.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מחיר מדויק ייקבע בפיילוט. ההיגיון: סיכון נמוך ללקוח — דמי ההצלחה מיישרים אינטרסים.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שלוש שכבות IBM: קטלוג הנתונים (watsonx.data intelligence / Knowledge Catalog) נותן מקור אמת אחד עם הרשאות ומיסוך; watsonx Orchestrate מנהל את הסוכנים; watsonx.governance מתעד ומבקר. IBM Bob הוא כלי הפיתוח שבעזרתו בונים את כל זה.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הסוכנים עובדים במקביל. שום פעולה לא מתבצעת אוטומטית בלי אישור המנהל — חשוב במיוחד בהמלצות שנוגעות לעובדים.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IBM Bob הוא שותף הפיתוח מבוסס ה-AI של IBM (זמין מאפריל 2026). אנחנו משתמשים בו כדי לבנות את המחברים והסוכנים מהר, ובזכות בקרות האבטחה המובנות שלו — לטפל בנתוני עובדים באחריות. נתון ה-45% הוא נתון של IBM עצמה.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מתחילים בתחומים שבהם הנתונים זמינים והחיסכון מהיר (כלים, חשמל), ורק אחר כך מנוע האנשים — הרגיש יותר.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השלימו שמות, תפקידים וניסיון של חברי הצוות.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סיום: הבקשה הקונקרטית, ומשפט הסיום שחוזר על ההבטחה המרכזית.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r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70408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איפה הכסף?  |  IBM Challenge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spc="300" kern="0" dirty="0">
                <a:solidFill>
                  <a:schemeClr val="accent2"/>
                </a:solidFill>
              </a:rPr>
              <a:t>IBM CHALLENGE 2026</a:t>
            </a:r>
            <a:endParaRPr lang="he-IL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01168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6000" b="1" dirty="0">
                <a:solidFill>
                  <a:schemeClr val="bg1"/>
                </a:solidFill>
              </a:rPr>
              <a:t>איפה הכסף?</a:t>
            </a:r>
            <a:endParaRPr lang="he-IL" sz="6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56616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chemeClr val="bg2"/>
                </a:solidFill>
              </a:rPr>
              <a:t>עוזר AI למנהל ה-IT שמאתר כפילויות בעובדים, בכלים ובצריכת החשמל — ומציע ייעול בלי לפגוע ברווחיות הכוללת</a:t>
            </a:r>
            <a:endParaRPr lang="he-IL" sz="2000" dirty="0"/>
          </a:p>
        </p:txBody>
      </p:sp>
      <p:sp>
        <p:nvSpPr>
          <p:cNvPr id="5" name="hero circle"/>
          <p:cNvSpPr/>
          <p:nvPr/>
        </p:nvSpPr>
        <p:spPr>
          <a:xfrm>
            <a:off x="8595360" y="1737360"/>
            <a:ext cx="3017520" cy="3017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hero icon" descr="זכוכית מגדלת על סימן כסף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chemeClr val="tx2"/>
                </a:solidFill>
              </a:rPr>
              <a:t>מנהל ה-IT יודע שהכסף דולף — אבל לא יודע איפה</a:t>
            </a:r>
            <a:endParaRPr lang="he-IL" sz="3200" dirty="0"/>
          </a:p>
        </p:txBody>
      </p:sp>
      <p:sp>
        <p:nvSpPr>
          <p:cNvPr id="3" name="problem card 1"/>
          <p:cNvSpPr/>
          <p:nvPr/>
        </p:nvSpPr>
        <p:spPr>
          <a:xfrm>
            <a:off x="8168335" y="155448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עובדים circle"/>
          <p:cNvSpPr/>
          <p:nvPr/>
        </p:nvSpPr>
        <p:spPr>
          <a:xfrm>
            <a:off x="10545775" y="1874520"/>
            <a:ext cx="777240" cy="7772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עובדים icon" descr="עובדי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0085" y="206883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42655" y="19659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chemeClr val="tx2"/>
                </a:solidFill>
              </a:rPr>
              <a:t>עובדים</a:t>
            </a:r>
            <a:endParaRPr lang="he-IL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442655" y="28803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4800" b="1" dirty="0">
                <a:solidFill>
                  <a:schemeClr val="accent1"/>
                </a:solidFill>
              </a:rPr>
              <a:t>3 מערכות</a:t>
            </a:r>
            <a:endParaRPr lang="he-IL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8442655" y="39776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נתוני HR, משימות ופרויקטים יושבים במערכות נפרדות — אף אחד לא רואה שני צוותים שעושים את אותה עבודה</a:t>
            </a:r>
            <a:endParaRPr lang="he-IL" sz="1500" dirty="0"/>
          </a:p>
        </p:txBody>
      </p:sp>
      <p:sp>
        <p:nvSpPr>
          <p:cNvPr id="9" name="problem card 2"/>
          <p:cNvSpPr/>
          <p:nvPr/>
        </p:nvSpPr>
        <p:spPr>
          <a:xfrm>
            <a:off x="4364431" y="155448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כלים ותוכנה circle"/>
          <p:cNvSpPr/>
          <p:nvPr/>
        </p:nvSpPr>
        <p:spPr>
          <a:xfrm>
            <a:off x="6741871" y="1874520"/>
            <a:ext cx="777240" cy="7772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כלים ותוכנה icon" descr="כלים ותוכנה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181" y="206883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38751" y="19659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chemeClr val="tx2"/>
                </a:solidFill>
              </a:rPr>
              <a:t>כלים ותוכנה</a:t>
            </a:r>
            <a:endParaRPr lang="he-IL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38751" y="28803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4800" b="1" dirty="0">
                <a:solidFill>
                  <a:schemeClr val="accent1"/>
                </a:solidFill>
              </a:rPr>
              <a:t>כ-27%</a:t>
            </a:r>
            <a:endParaRPr lang="he-IL" sz="4800" dirty="0"/>
          </a:p>
        </p:txBody>
      </p:sp>
      <p:sp>
        <p:nvSpPr>
          <p:cNvPr id="14" name="Text 10"/>
          <p:cNvSpPr txBox="1"/>
          <p:nvPr/>
        </p:nvSpPr>
        <p:spPr>
          <a:xfrm>
            <a:off x="4638751" y="39776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מההוצאה על ענן מוערכת כבזבוז: רישיונות לא בשימוש וכלים כפולים לאותה מטרה</a:t>
            </a:r>
            <a:endParaRPr lang="he-IL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638751" y="5486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chemeClr val="accent4"/>
                </a:solidFill>
              </a:rPr>
              <a:t>מקור: Flexera, State of the Cloud</a:t>
            </a:r>
            <a:endParaRPr lang="he-IL" sz="1100" dirty="0"/>
          </a:p>
        </p:txBody>
      </p:sp>
      <p:sp>
        <p:nvSpPr>
          <p:cNvPr id="16" name="problem card 3"/>
          <p:cNvSpPr/>
          <p:nvPr/>
        </p:nvSpPr>
        <p:spPr>
          <a:xfrm>
            <a:off x="560527" y="155448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חשמל circle"/>
          <p:cNvSpPr/>
          <p:nvPr/>
        </p:nvSpPr>
        <p:spPr>
          <a:xfrm>
            <a:off x="2937967" y="1874520"/>
            <a:ext cx="777240" cy="7772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8" name="חשמל icon" descr="חשמ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277" y="206883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4847" y="19659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chemeClr val="tx2"/>
                </a:solidFill>
              </a:rPr>
              <a:t>חשמל</a:t>
            </a:r>
            <a:endParaRPr lang="he-IL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34847" y="28803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4800" b="1" dirty="0">
                <a:solidFill>
                  <a:schemeClr val="accent1"/>
                </a:solidFill>
              </a:rPr>
              <a:t>עד 30%</a:t>
            </a:r>
            <a:endParaRPr lang="he-IL" sz="4800" dirty="0"/>
          </a:p>
        </p:txBody>
      </p:sp>
      <p:sp>
        <p:nvSpPr>
          <p:cNvPr id="21" name="Text 16"/>
          <p:cNvSpPr txBox="1"/>
          <p:nvPr/>
        </p:nvSpPr>
        <p:spPr>
          <a:xfrm>
            <a:off x="834847" y="39776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מהשרתים בחוות נתונים נמצאו 'זומבים' — צורכים חשמל וקירור בלי לבצע עבודה</a:t>
            </a:r>
            <a:endParaRPr lang="he-IL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34847" y="5486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chemeClr val="accent4"/>
                </a:solidFill>
              </a:rPr>
              <a:t>מקור: Koomey &amp; Taylor / Anthesis</a:t>
            </a:r>
            <a:endParaRPr lang="he-IL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chemeClr val="tx2"/>
                </a:solidFill>
              </a:rPr>
              <a:t>הפתרונות הקיימים רואים רק חתיכה מהתמונה</a:t>
            </a:r>
            <a:endParaRPr lang="he-IL" sz="3200" dirty="0"/>
          </a:p>
        </p:txBody>
      </p:sp>
      <p:graphicFrame>
        <p:nvGraphicFramePr>
          <p:cNvPr id="4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37360"/>
                <a:gridCol w="1737360"/>
                <a:gridCol w="1737360"/>
                <a:gridCol w="3227832"/>
              </a:tblGrid>
              <a:tr h="65836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בדיקת השפעה על רווח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חשמל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כלים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עובדים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פתרון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חלקי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חלקי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אקסל וביקורת ידנית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כלי ניהול רישיונות SaaS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חלקי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כלי FinOps לענן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דשבורד אנרגיה / BMS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איפה הכסף?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800" b="1" i="1" dirty="0">
                <a:solidFill>
                  <a:schemeClr val="tx2"/>
                </a:solidFill>
              </a:rPr>
              <a:t>הפער: אף כלי לא מחבר בין אנשים, כלים וחשמל — ואף אחד לא בודק אם החיסכון יפגע בהכנסות</a:t>
            </a:r>
            <a:endParaRPr lang="he-IL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chemeClr val="tx2"/>
                </a:solidFill>
              </a:rPr>
              <a:t>הפתרון: CFO אישי למחלקת ה-IT</a:t>
            </a:r>
            <a:endParaRPr lang="he-IL" sz="3200" dirty="0"/>
          </a:p>
        </p:txBody>
      </p:sp>
      <p:sp>
        <p:nvSpPr>
          <p:cNvPr id="3" name="elevator pitch band"/>
          <p:cNvSpPr/>
          <p:nvPr/>
        </p:nvSpPr>
        <p:spPr>
          <a:xfrm>
            <a:off x="548640" y="1417320"/>
            <a:ext cx="11091672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chemeClr val="bg1"/>
                </a:solidFill>
              </a:rPr>
              <a:t>״איפה הכסף?״ מחבר את נתוני העובדים, הכלים והחשמל, מוצא כפילויות ומציג רק המלצות שחוסכות כסף בלי לפגוע ברווח</a:t>
            </a:r>
            <a:endParaRPr lang="he-IL" sz="2200" dirty="0"/>
          </a:p>
        </p:txBody>
      </p:sp>
      <p:sp>
        <p:nvSpPr>
          <p:cNvPr id="5" name="מתחברים circle"/>
          <p:cNvSpPr/>
          <p:nvPr/>
        </p:nvSpPr>
        <p:spPr>
          <a:xfrm>
            <a:off x="9837115" y="3063240"/>
            <a:ext cx="1097280" cy="109728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מתחברים icon" descr="מתחברי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435" y="3337560"/>
            <a:ext cx="548640" cy="548640"/>
          </a:xfrm>
          <a:prstGeom prst="rect">
            <a:avLst/>
          </a:prstGeom>
        </p:spPr>
      </p:pic>
      <p:sp>
        <p:nvSpPr>
          <p:cNvPr id="7" name="step number 1"/>
          <p:cNvSpPr txBox="1"/>
          <p:nvPr/>
        </p:nvSpPr>
        <p:spPr>
          <a:xfrm>
            <a:off x="10660075" y="2971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28455" y="42976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chemeClr val="tx2"/>
                </a:solidFill>
              </a:rPr>
              <a:t>מתחברים</a:t>
            </a:r>
            <a:endParaRPr lang="he-IL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128455" y="475488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קטלוג נתונים אחד לעובדים, תמיכה, רישיונות, ענן וחשמל</a:t>
            </a:r>
            <a:endParaRPr lang="he-IL" sz="1500" dirty="0"/>
          </a:p>
        </p:txBody>
      </p:sp>
      <p:pic>
        <p:nvPicPr>
          <p:cNvPr id="10" name="flow arrow 1" descr="ח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559" y="3474720"/>
            <a:ext cx="274320" cy="274320"/>
          </a:xfrm>
          <a:prstGeom prst="rect">
            <a:avLst/>
          </a:prstGeom>
        </p:spPr>
      </p:pic>
      <p:sp>
        <p:nvSpPr>
          <p:cNvPr id="11" name="מזהים circle"/>
          <p:cNvSpPr/>
          <p:nvPr/>
        </p:nvSpPr>
        <p:spPr>
          <a:xfrm>
            <a:off x="6975043" y="3063240"/>
            <a:ext cx="1097280" cy="109728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מזהים icon" descr="מזהים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363" y="3337560"/>
            <a:ext cx="548640" cy="548640"/>
          </a:xfrm>
          <a:prstGeom prst="rect">
            <a:avLst/>
          </a:prstGeom>
        </p:spPr>
      </p:pic>
      <p:sp>
        <p:nvSpPr>
          <p:cNvPr id="13" name="step number 2"/>
          <p:cNvSpPr txBox="1"/>
          <p:nvPr/>
        </p:nvSpPr>
        <p:spPr>
          <a:xfrm>
            <a:off x="7798003" y="2971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6266383" y="42976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chemeClr val="tx2"/>
                </a:solidFill>
              </a:rPr>
              <a:t>מזהים</a:t>
            </a:r>
            <a:endParaRPr lang="he-IL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6266383" y="475488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סוכני AI מאתרים כפילויות, חוסר ניצול ובזבוז</a:t>
            </a:r>
            <a:endParaRPr lang="he-IL" sz="1500" dirty="0"/>
          </a:p>
        </p:txBody>
      </p:sp>
      <p:pic>
        <p:nvPicPr>
          <p:cNvPr id="16" name="flow arrow 2" descr="חץ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487" y="3474720"/>
            <a:ext cx="274320" cy="274320"/>
          </a:xfrm>
          <a:prstGeom prst="rect">
            <a:avLst/>
          </a:prstGeom>
        </p:spPr>
      </p:pic>
      <p:sp>
        <p:nvSpPr>
          <p:cNvPr id="17" name="בודקים רווח circle"/>
          <p:cNvSpPr/>
          <p:nvPr/>
        </p:nvSpPr>
        <p:spPr>
          <a:xfrm>
            <a:off x="4112971" y="3063240"/>
            <a:ext cx="1097280" cy="109728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8" name="בודקים רווח icon" descr="בודקים רווח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7291" y="3337560"/>
            <a:ext cx="548640" cy="548640"/>
          </a:xfrm>
          <a:prstGeom prst="rect">
            <a:avLst/>
          </a:prstGeom>
        </p:spPr>
      </p:pic>
      <p:sp>
        <p:nvSpPr>
          <p:cNvPr id="19" name="step number 3"/>
          <p:cNvSpPr txBox="1"/>
          <p:nvPr/>
        </p:nvSpPr>
        <p:spPr>
          <a:xfrm>
            <a:off x="4935931" y="2971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3404311" y="42976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chemeClr val="tx2"/>
                </a:solidFill>
              </a:rPr>
              <a:t>בודקים רווח</a:t>
            </a:r>
            <a:endParaRPr lang="he-IL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3404311" y="475488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כל המלצה עוברת סימולציה של השפעה על הכנסות ו-SLA</a:t>
            </a:r>
            <a:endParaRPr lang="he-IL" sz="1500" dirty="0"/>
          </a:p>
        </p:txBody>
      </p:sp>
      <p:pic>
        <p:nvPicPr>
          <p:cNvPr id="22" name="flow arrow 3" descr="חץ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3415" y="3474720"/>
            <a:ext cx="274320" cy="274320"/>
          </a:xfrm>
          <a:prstGeom prst="rect">
            <a:avLst/>
          </a:prstGeom>
        </p:spPr>
      </p:pic>
      <p:sp>
        <p:nvSpPr>
          <p:cNvPr id="23" name="פועלים circle"/>
          <p:cNvSpPr/>
          <p:nvPr/>
        </p:nvSpPr>
        <p:spPr>
          <a:xfrm>
            <a:off x="1250899" y="3063240"/>
            <a:ext cx="1097280" cy="109728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4" name="פועלים icon" descr="פועלים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5219" y="3337560"/>
            <a:ext cx="548640" cy="548640"/>
          </a:xfrm>
          <a:prstGeom prst="rect">
            <a:avLst/>
          </a:prstGeom>
        </p:spPr>
      </p:pic>
      <p:sp>
        <p:nvSpPr>
          <p:cNvPr id="25" name="step number 4"/>
          <p:cNvSpPr txBox="1"/>
          <p:nvPr/>
        </p:nvSpPr>
        <p:spPr>
          <a:xfrm>
            <a:off x="2073859" y="2971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17"/>
          <p:cNvSpPr txBox="1"/>
          <p:nvPr/>
        </p:nvSpPr>
        <p:spPr>
          <a:xfrm>
            <a:off x="542239" y="42976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chemeClr val="tx2"/>
                </a:solidFill>
              </a:rPr>
              <a:t>פועלים</a:t>
            </a:r>
            <a:endParaRPr lang="he-IL" sz="2000" dirty="0"/>
          </a:p>
        </p:txBody>
      </p:sp>
      <p:sp>
        <p:nvSpPr>
          <p:cNvPr id="27" name="Text 18"/>
          <p:cNvSpPr txBox="1"/>
          <p:nvPr/>
        </p:nvSpPr>
        <p:spPr>
          <a:xfrm>
            <a:off x="542239" y="475488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תוכנית פעולה מדורגת לפי חיסכון נקי, עם מעקב ביצוע</a:t>
            </a:r>
            <a:endParaRPr lang="he-IL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chemeClr val="tx2"/>
                </a:solidFill>
              </a:rPr>
              <a:t>שלושה מנועים, תמונה אחת של הכסף</a:t>
            </a:r>
            <a:endParaRPr lang="he-IL" sz="3200" dirty="0"/>
          </a:p>
        </p:txBody>
      </p:sp>
      <p:sp>
        <p:nvSpPr>
          <p:cNvPr id="3" name="engine card 1"/>
          <p:cNvSpPr/>
          <p:nvPr/>
        </p:nvSpPr>
        <p:spPr>
          <a:xfrm>
            <a:off x="8168335" y="1463040"/>
            <a:ext cx="3474720" cy="4663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מנוע אנשים circle"/>
          <p:cNvSpPr/>
          <p:nvPr/>
        </p:nvSpPr>
        <p:spPr>
          <a:xfrm>
            <a:off x="9448495" y="17373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מנוע אנשים icon" descr="מנוע אנשי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7095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96935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chemeClr val="tx2"/>
                </a:solidFill>
              </a:rPr>
              <a:t>מנוע אנשים</a:t>
            </a:r>
            <a:endParaRPr lang="he-IL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442655" y="3291840"/>
            <a:ext cx="2926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מזהה: צוותים שמבצעים משימות חופפות, תפקידים כפולים אחרי מיזוגים, תורנויות מקבילות</a:t>
            </a:r>
            <a:endParaRPr lang="he-IL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42655" y="47091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accent1"/>
                </a:solidFill>
              </a:rPr>
              <a:t>ממליץ: איחוד תהליכים והסבת עובדים לפרויקטים מניבים — לא פיטורים</a:t>
            </a:r>
            <a:endParaRPr lang="he-IL" sz="1500" dirty="0"/>
          </a:p>
        </p:txBody>
      </p:sp>
      <p:sp>
        <p:nvSpPr>
          <p:cNvPr id="9" name="engine card 2"/>
          <p:cNvSpPr/>
          <p:nvPr/>
        </p:nvSpPr>
        <p:spPr>
          <a:xfrm>
            <a:off x="4364431" y="1463040"/>
            <a:ext cx="3474720" cy="4663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מנוע כלים circle"/>
          <p:cNvSpPr/>
          <p:nvPr/>
        </p:nvSpPr>
        <p:spPr>
          <a:xfrm>
            <a:off x="5644591" y="17373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מנוע כלים icon" descr="מנוע כלים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191" y="19659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3031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chemeClr val="tx2"/>
                </a:solidFill>
              </a:rPr>
              <a:t>מנוע כלים</a:t>
            </a:r>
            <a:endParaRPr lang="he-IL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38751" y="3291840"/>
            <a:ext cx="2926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מזהה: רישיונות לא פעילים, כמה כלים לאותה מטרה (למשל 3 מערכות שיחות וידאו), חבילות מנוי מנופחות</a:t>
            </a:r>
            <a:endParaRPr lang="he-IL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638751" y="47091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accent1"/>
                </a:solidFill>
              </a:rPr>
              <a:t>ממליץ: איחוד ספקים, הורדת רמת מנוי, מו״מ חידוש מבוסס נתונים</a:t>
            </a:r>
            <a:endParaRPr lang="he-IL" sz="1500" dirty="0"/>
          </a:p>
        </p:txBody>
      </p:sp>
      <p:sp>
        <p:nvSpPr>
          <p:cNvPr id="15" name="engine card 3"/>
          <p:cNvSpPr/>
          <p:nvPr/>
        </p:nvSpPr>
        <p:spPr>
          <a:xfrm>
            <a:off x="560527" y="1463040"/>
            <a:ext cx="3474720" cy="4663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מנוע חשמל circle"/>
          <p:cNvSpPr/>
          <p:nvPr/>
        </p:nvSpPr>
        <p:spPr>
          <a:xfrm>
            <a:off x="1840687" y="17373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מנוע חשמל icon" descr="מנוע חשמ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287" y="19659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89127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chemeClr val="tx2"/>
                </a:solidFill>
              </a:rPr>
              <a:t>מנוע חשמל</a:t>
            </a:r>
            <a:endParaRPr lang="he-IL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34847" y="3291840"/>
            <a:ext cx="2926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מזהה: שרתים בניצול נמוך או 'זומבים', קירור עודף, עומסים בשעות תעריף יקרות</a:t>
            </a:r>
            <a:endParaRPr lang="he-IL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34847" y="47091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accent1"/>
                </a:solidFill>
              </a:rPr>
              <a:t>ממליץ: כיבוי ואיחוד שרתים, וירטואליזציה, הזזת עומסים לשעות זולות</a:t>
            </a:r>
            <a:endParaRPr lang="he-IL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chemeClr val="tx2"/>
                </a:solidFill>
              </a:rPr>
              <a:t>״מבחן הרווח״: חוסכים רק במה שלא פוגע בהכנסות</a:t>
            </a:r>
            <a:endParaRPr lang="he-IL" sz="3200" dirty="0"/>
          </a:p>
        </p:txBody>
      </p:sp>
      <p:sp>
        <p:nvSpPr>
          <p:cNvPr id="3" name="quadrant low"/>
          <p:cNvSpPr/>
          <p:nvPr/>
        </p:nvSpPr>
        <p:spPr>
          <a:xfrm>
            <a:off x="822960" y="3657600"/>
            <a:ext cx="256032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adrant sweet spot"/>
          <p:cNvSpPr/>
          <p:nvPr/>
        </p:nvSpPr>
        <p:spPr>
          <a:xfrm>
            <a:off x="3383280" y="3657600"/>
            <a:ext cx="2560320" cy="2103120"/>
          </a:xfrm>
          <a:prstGeom prst="rect">
            <a:avLst/>
          </a:prstGeom>
          <a:solidFill>
            <a:srgbClr val="D7EDE2"/>
          </a:solidFill>
          <a:ln w="12700">
            <a:solidFill>
              <a:srgbClr val="D7EDE2"/>
            </a:solidFill>
            <a:prstDash val="solid"/>
          </a:ln>
        </p:spPr>
      </p:sp>
      <p:sp>
        <p:nvSpPr>
          <p:cNvPr id="5" name="quadrant avoid"/>
          <p:cNvSpPr/>
          <p:nvPr/>
        </p:nvSpPr>
        <p:spPr>
          <a:xfrm>
            <a:off x="822960" y="1554480"/>
            <a:ext cx="2560320" cy="210312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6" name="quadrant review"/>
          <p:cNvSpPr/>
          <p:nvPr/>
        </p:nvSpPr>
        <p:spPr>
          <a:xfrm>
            <a:off x="3383280" y="1554480"/>
            <a:ext cx="2560320" cy="2103120"/>
          </a:xfrm>
          <a:prstGeom prst="rect">
            <a:avLst/>
          </a:prstGeom>
          <a:solidFill>
            <a:srgbClr val="FBF1D3"/>
          </a:solidFill>
          <a:ln w="12700">
            <a:solidFill>
              <a:srgbClr val="FBF1D3"/>
            </a:solidFill>
            <a:prstDash val="solid"/>
          </a:ln>
        </p:spPr>
      </p:sp>
      <p:sp>
        <p:nvSpPr>
          <p:cNvPr id="7" name="x axis"/>
          <p:cNvSpPr/>
          <p:nvPr/>
        </p:nvSpPr>
        <p:spPr>
          <a:xfrm>
            <a:off x="822960" y="5760720"/>
            <a:ext cx="512064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y axis"/>
          <p:cNvSpPr/>
          <p:nvPr/>
        </p:nvSpPr>
        <p:spPr>
          <a:xfrm>
            <a:off x="822960" y="1554480"/>
            <a:ext cx="0" cy="42062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triangle"/>
          </a:ln>
        </p:spPr>
      </p:sp>
      <p:sp>
        <p:nvSpPr>
          <p:cNvPr id="9" name="Text 7"/>
          <p:cNvSpPr txBox="1"/>
          <p:nvPr/>
        </p:nvSpPr>
        <p:spPr>
          <a:xfrm>
            <a:off x="3749040" y="5806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chemeClr val="tx1"/>
                </a:solidFill>
              </a:rPr>
              <a:t>חיסכון שנתי</a:t>
            </a:r>
            <a:endParaRPr lang="he-IL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170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he-IL" altLang="en-US" sz="1200" dirty="0">
                <a:solidFill>
                  <a:schemeClr val="tx1"/>
                </a:solidFill>
              </a:rPr>
              <a:t>סיכון להכנסות / SLA</a:t>
            </a:r>
            <a:endParaRPr lang="he-IL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5303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chemeClr val="accent1"/>
                </a:solidFill>
              </a:rPr>
              <a:t>מבצעים מיד</a:t>
            </a:r>
            <a:endParaRPr lang="he-IL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645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8A6A00"/>
                </a:solidFill>
              </a:rPr>
              <a:t>בדיקה עם בעלי עניין</a:t>
            </a:r>
            <a:endParaRPr lang="he-IL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chemeClr val="accent4"/>
                </a:solidFill>
              </a:rPr>
              <a:t>לא מומלץ</a:t>
            </a:r>
            <a:endParaRPr lang="he-IL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chemeClr val="tx1"/>
                </a:solidFill>
              </a:rPr>
              <a:t>ניצחונות קטנים</a:t>
            </a:r>
            <a:endParaRPr lang="he-IL" sz="1400" dirty="0"/>
          </a:p>
        </p:txBody>
      </p:sp>
      <p:sp>
        <p:nvSpPr>
          <p:cNvPr id="15" name="recommendation dot 1"/>
          <p:cNvSpPr/>
          <p:nvPr/>
        </p:nvSpPr>
        <p:spPr>
          <a:xfrm>
            <a:off x="4679899" y="457200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recommendation dot 2"/>
          <p:cNvSpPr/>
          <p:nvPr/>
        </p:nvSpPr>
        <p:spPr>
          <a:xfrm>
            <a:off x="4014216" y="415137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recommendation dot 3"/>
          <p:cNvSpPr/>
          <p:nvPr/>
        </p:nvSpPr>
        <p:spPr>
          <a:xfrm>
            <a:off x="5191963" y="499262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recommendation dot 4"/>
          <p:cNvSpPr/>
          <p:nvPr/>
        </p:nvSpPr>
        <p:spPr>
          <a:xfrm>
            <a:off x="2221992" y="4361688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recommendation dot 5"/>
          <p:cNvSpPr/>
          <p:nvPr/>
        </p:nvSpPr>
        <p:spPr>
          <a:xfrm>
            <a:off x="4270248" y="2595067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recommendation dot 6"/>
          <p:cNvSpPr/>
          <p:nvPr/>
        </p:nvSpPr>
        <p:spPr>
          <a:xfrm>
            <a:off x="1965960" y="2258568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השפעה על הכנסות circle"/>
          <p:cNvSpPr/>
          <p:nvPr/>
        </p:nvSpPr>
        <p:spPr>
          <a:xfrm>
            <a:off x="10820095" y="160020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2" name="השפעה על הכנסות icon" descr="השפעה על הכנסות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1805940"/>
            <a:ext cx="411480" cy="41148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400800" y="155448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900" b="1" dirty="0">
                <a:solidFill>
                  <a:schemeClr val="tx2"/>
                </a:solidFill>
              </a:rPr>
              <a:t>השפעה על הכנסות</a:t>
            </a:r>
            <a:endParaRPr lang="he-IL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0" y="196596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האם הכלי, השרת או הצוות תומכים בלקוח משלם?</a:t>
            </a:r>
            <a:endParaRPr lang="he-IL" sz="1500" dirty="0"/>
          </a:p>
        </p:txBody>
      </p:sp>
      <p:sp>
        <p:nvSpPr>
          <p:cNvPr id="25" name="רמת שירות (SLA) circle"/>
          <p:cNvSpPr/>
          <p:nvPr/>
        </p:nvSpPr>
        <p:spPr>
          <a:xfrm>
            <a:off x="10820095" y="297180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6" name="רמת שירות (SLA) icon" descr="רמת שירות (SL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5835" y="3177540"/>
            <a:ext cx="411480" cy="41148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400800" y="292608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900" b="1" dirty="0">
                <a:solidFill>
                  <a:schemeClr val="tx2"/>
                </a:solidFill>
              </a:rPr>
              <a:t>רמת שירות (SLA)</a:t>
            </a:r>
            <a:endParaRPr lang="he-IL" sz="1900" dirty="0"/>
          </a:p>
        </p:txBody>
      </p:sp>
      <p:sp>
        <p:nvSpPr>
          <p:cNvPr id="28" name="Text 24"/>
          <p:cNvSpPr txBox="1"/>
          <p:nvPr/>
        </p:nvSpPr>
        <p:spPr>
          <a:xfrm>
            <a:off x="6400800" y="333756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סימולציה של זמני תגובה וזמינות אחרי השינוי</a:t>
            </a:r>
            <a:endParaRPr lang="he-IL" sz="1500" dirty="0"/>
          </a:p>
        </p:txBody>
      </p:sp>
      <p:sp>
        <p:nvSpPr>
          <p:cNvPr id="29" name="הוגנות ושקיפות circle"/>
          <p:cNvSpPr/>
          <p:nvPr/>
        </p:nvSpPr>
        <p:spPr>
          <a:xfrm>
            <a:off x="10820095" y="434340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0" name="הוגנות ושקיפות icon" descr="הוגנות ושקיפות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5835" y="4549140"/>
            <a:ext cx="411480" cy="41148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6400800" y="429768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900" b="1" dirty="0">
                <a:solidFill>
                  <a:schemeClr val="tx2"/>
                </a:solidFill>
              </a:rPr>
              <a:t>הוגנות ושקיפות</a:t>
            </a:r>
            <a:endParaRPr lang="he-IL" sz="1900" dirty="0"/>
          </a:p>
        </p:txBody>
      </p:sp>
      <p:sp>
        <p:nvSpPr>
          <p:cNvPr id="32" name="Text 27"/>
          <p:cNvSpPr txBox="1"/>
          <p:nvPr/>
        </p:nvSpPr>
        <p:spPr>
          <a:xfrm>
            <a:off x="6400800" y="470916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המלצות על אנשים עוברות בקרת watsonx.governance</a:t>
            </a:r>
            <a:endParaRPr lang="he-IL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6400800" y="562356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i="1" dirty="0">
                <a:solidFill>
                  <a:schemeClr val="accent1"/>
                </a:solidFill>
              </a:rPr>
              <a:t>רק המלצות עם חיסכון נקי חיובי מגיעות למנהל</a:t>
            </a:r>
            <a:endParaRPr lang="he-I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chemeClr val="tx2"/>
                </a:solidFill>
              </a:rPr>
              <a:t>תרחיש לדוגמה: חברה של 800 עובדים</a:t>
            </a:r>
            <a:endParaRPr lang="he-IL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 1"/>
          <p:cNvSpPr/>
          <p:nvPr/>
        </p:nvSpPr>
        <p:spPr>
          <a:xfrm>
            <a:off x="7589520" y="1463040"/>
            <a:ext cx="4050792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0" y="1536192"/>
            <a:ext cx="3685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600" b="1" dirty="0">
                <a:solidFill>
                  <a:schemeClr val="accent2"/>
                </a:solidFill>
              </a:rPr>
              <a:t>₪2.6M</a:t>
            </a:r>
            <a:endParaRPr lang="he-IL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240280"/>
            <a:ext cx="3685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bg1"/>
                </a:solidFill>
              </a:rPr>
              <a:t>חיסכון שנתי פוטנציאלי</a:t>
            </a:r>
            <a:endParaRPr lang="he-IL" sz="1500" dirty="0"/>
          </a:p>
        </p:txBody>
      </p:sp>
      <p:sp>
        <p:nvSpPr>
          <p:cNvPr id="7" name="stat card 2"/>
          <p:cNvSpPr/>
          <p:nvPr/>
        </p:nvSpPr>
        <p:spPr>
          <a:xfrm>
            <a:off x="7589520" y="2926080"/>
            <a:ext cx="405079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2999232"/>
            <a:ext cx="3685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600" b="1" dirty="0">
                <a:solidFill>
                  <a:schemeClr val="accent1"/>
                </a:solidFill>
              </a:rPr>
              <a:t>0%</a:t>
            </a:r>
            <a:endParaRPr lang="he-IL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703320"/>
            <a:ext cx="3685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פגיעה צפויה בהכנסות</a:t>
            </a:r>
            <a:endParaRPr lang="he-IL" sz="1500" dirty="0"/>
          </a:p>
        </p:txBody>
      </p:sp>
      <p:sp>
        <p:nvSpPr>
          <p:cNvPr id="10" name="stat card 3"/>
          <p:cNvSpPr/>
          <p:nvPr/>
        </p:nvSpPr>
        <p:spPr>
          <a:xfrm>
            <a:off x="7589520" y="4389120"/>
            <a:ext cx="405079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0" y="4462272"/>
            <a:ext cx="3685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600" b="1" dirty="0">
                <a:solidFill>
                  <a:schemeClr val="accent1"/>
                </a:solidFill>
              </a:rPr>
              <a:t>כ-120</a:t>
            </a:r>
            <a:endParaRPr lang="he-IL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5166360"/>
            <a:ext cx="3685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טון CO₂ פחות בשנה</a:t>
            </a:r>
            <a:endParaRPr lang="he-IL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chemeClr val="accent4"/>
                </a:solidFill>
              </a:rPr>
              <a:t>* נתונים להמחשה בלבד — יאומתו בפיילוט</a:t>
            </a:r>
            <a:endParaRPr lang="he-IL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chemeClr val="tx2"/>
                </a:solidFill>
              </a:rPr>
              <a:t>הזמן הנכון: לחץ תקציבי, AI ועלויות חשמל</a:t>
            </a:r>
            <a:endParaRPr lang="he-IL" sz="3200" dirty="0"/>
          </a:p>
        </p:txBody>
      </p:sp>
      <p:sp>
        <p:nvSpPr>
          <p:cNvPr id="3" name="market stat card"/>
          <p:cNvSpPr/>
          <p:nvPr/>
        </p:nvSpPr>
        <p:spPr>
          <a:xfrm>
            <a:off x="548640" y="1463040"/>
            <a:ext cx="4206240" cy="457200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8000" b="1" dirty="0">
                <a:solidFill>
                  <a:schemeClr val="accent2"/>
                </a:solidFill>
              </a:rPr>
              <a:t>x2</a:t>
            </a:r>
            <a:endParaRPr lang="he-IL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chemeClr val="bg1"/>
                </a:solidFill>
              </a:rPr>
              <a:t>צריכת החשמל של מרכזי נתונים צפויה יותר מלהכפיל את עצמה עד 2030</a:t>
            </a:r>
            <a:endParaRPr lang="he-IL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chemeClr val="bg2"/>
                </a:solidFill>
              </a:rPr>
              <a:t>IEA, Energy and AI, 2025</a:t>
            </a:r>
            <a:endParaRPr lang="he-IL" sz="1100" dirty="0"/>
          </a:p>
        </p:txBody>
      </p:sp>
      <p:sp>
        <p:nvSpPr>
          <p:cNvPr id="7" name="הלקוח שלנו circle"/>
          <p:cNvSpPr/>
          <p:nvPr/>
        </p:nvSpPr>
        <p:spPr>
          <a:xfrm>
            <a:off x="10820095" y="1508760"/>
            <a:ext cx="822960" cy="82296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הלקוח שלנו icon" descr="הלקוח שלנ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17145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212080" y="1463040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chemeClr val="tx2"/>
                </a:solidFill>
              </a:rPr>
              <a:t>הלקוח שלנו</a:t>
            </a:r>
            <a:endParaRPr lang="he-IL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1892808"/>
            <a:ext cx="5440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מנהלי IT ו-CIO בארגונים של 200–5,000 עובדים, שנדרשים לחסוך בלי לעצור את העסק</a:t>
            </a:r>
            <a:endParaRPr lang="he-IL" sz="1500" dirty="0"/>
          </a:p>
        </p:txBody>
      </p:sp>
      <p:sp>
        <p:nvSpPr>
          <p:cNvPr id="11" name="לחץ על תקציבי IT circle"/>
          <p:cNvSpPr/>
          <p:nvPr/>
        </p:nvSpPr>
        <p:spPr>
          <a:xfrm>
            <a:off x="10820095" y="3017520"/>
            <a:ext cx="822960" cy="82296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לחץ על תקציבי IT icon" descr="לחץ על תקציבי 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5835" y="32232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12080" y="2971800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chemeClr val="tx2"/>
                </a:solidFill>
              </a:rPr>
              <a:t>לחץ על תקציבי IT</a:t>
            </a:r>
            <a:endParaRPr lang="he-IL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212080" y="3401568"/>
            <a:ext cx="5440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הוצאות AI וענן עולות, והנהלות דורשות להראות לאן הולך כל שקל</a:t>
            </a:r>
            <a:endParaRPr lang="he-IL" sz="1500" dirty="0"/>
          </a:p>
        </p:txBody>
      </p:sp>
      <p:sp>
        <p:nvSpPr>
          <p:cNvPr id="15" name="רגולציית ESG circle"/>
          <p:cNvSpPr/>
          <p:nvPr/>
        </p:nvSpPr>
        <p:spPr>
          <a:xfrm>
            <a:off x="10820095" y="4526280"/>
            <a:ext cx="822960" cy="82296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רגולציית ESG icon" descr="רגולציית ES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5835" y="47320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12080" y="4480560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chemeClr val="tx2"/>
                </a:solidFill>
              </a:rPr>
              <a:t>רגולציית ESG</a:t>
            </a:r>
            <a:endParaRPr lang="he-IL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5212080" y="4910328"/>
            <a:ext cx="5440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דרישות דיווח על צריכת אנרגיה ופליטות הופכות חיסכון בחשמל ליעד עסקי</a:t>
            </a:r>
            <a:endParaRPr lang="he-IL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chemeClr val="tx2"/>
                </a:solidFill>
              </a:rPr>
              <a:t>מודל עסקי: הלקוח משלם כשהוא חוסך</a:t>
            </a:r>
            <a:endParaRPr lang="he-IL" sz="3200" dirty="0"/>
          </a:p>
        </p:txBody>
      </p:sp>
      <p:sp>
        <p:nvSpPr>
          <p:cNvPr id="3" name="model card 1"/>
          <p:cNvSpPr/>
          <p:nvPr/>
        </p:nvSpPr>
        <p:spPr>
          <a:xfrm>
            <a:off x="8168335" y="155448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מנוי SaaS circle"/>
          <p:cNvSpPr/>
          <p:nvPr/>
        </p:nvSpPr>
        <p:spPr>
          <a:xfrm>
            <a:off x="10545775" y="18745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מנוי SaaS icon" descr="מנוי Sa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0085" y="206883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42655" y="19659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chemeClr val="tx2"/>
                </a:solidFill>
              </a:rPr>
              <a:t>מנוי SaaS</a:t>
            </a:r>
            <a:endParaRPr lang="he-IL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442655" y="288036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תשלום חודשי לפי מספר עובדים בארגון — כולל דשבורד, התראות ודוחות</a:t>
            </a:r>
            <a:endParaRPr lang="he-IL" sz="1600" dirty="0"/>
          </a:p>
        </p:txBody>
      </p:sp>
      <p:sp>
        <p:nvSpPr>
          <p:cNvPr id="8" name="model card 2"/>
          <p:cNvSpPr/>
          <p:nvPr/>
        </p:nvSpPr>
        <p:spPr>
          <a:xfrm>
            <a:off x="4364431" y="155448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דמי הצלחה circle"/>
          <p:cNvSpPr/>
          <p:nvPr/>
        </p:nvSpPr>
        <p:spPr>
          <a:xfrm>
            <a:off x="6741871" y="18745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דמי הצלחה icon" descr="דמי הצלחה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181" y="206883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38751" y="19659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chemeClr val="tx2"/>
                </a:solidFill>
              </a:rPr>
              <a:t>דמי הצלחה</a:t>
            </a:r>
            <a:endParaRPr lang="he-IL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38751" y="288036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אחוז מהחיסכון המאומת בשנה הראשונה — אנחנו מרוויחים רק כשהלקוח חוסך</a:t>
            </a:r>
            <a:endParaRPr lang="he-IL" sz="1600" dirty="0"/>
          </a:p>
        </p:txBody>
      </p:sp>
      <p:sp>
        <p:nvSpPr>
          <p:cNvPr id="13" name="model card 3"/>
          <p:cNvSpPr/>
          <p:nvPr/>
        </p:nvSpPr>
        <p:spPr>
          <a:xfrm>
            <a:off x="560527" y="155448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ערוץ IBM circle"/>
          <p:cNvSpPr/>
          <p:nvPr/>
        </p:nvSpPr>
        <p:spPr>
          <a:xfrm>
            <a:off x="2937967" y="18745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ערוץ IBM icon" descr="ערוץ IB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277" y="206883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4847" y="19659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chemeClr val="tx2"/>
                </a:solidFill>
              </a:rPr>
              <a:t>ערוץ IBM</a:t>
            </a:r>
            <a:endParaRPr lang="he-IL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4847" y="288036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הפצה דרך מערך השותפים של IBM כהרחבה ללקוחות Apptio ו-Turbonomic</a:t>
            </a:r>
            <a:endParaRPr lang="he-IL" sz="1600" dirty="0"/>
          </a:p>
        </p:txBody>
      </p:sp>
      <p:sp>
        <p:nvSpPr>
          <p:cNvPr id="18" name="value band"/>
          <p:cNvSpPr/>
          <p:nvPr/>
        </p:nvSpPr>
        <p:spPr>
          <a:xfrm>
            <a:off x="548640" y="516636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chemeClr val="bg1"/>
                </a:solidFill>
              </a:rPr>
              <a:t>החזר השקעה כבר ברבעון הראשון: החיסכון בכלים לבדו מכסה את עלות המנוי</a:t>
            </a:r>
            <a:endParaRPr lang="he-IL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chemeClr val="tx2"/>
                </a:solidFill>
              </a:rPr>
              <a:t>הארכיטקטורה: קטלוג נתונים ← אורקסטרציה ← פעולה</a:t>
            </a:r>
            <a:endParaRPr lang="he-IL" sz="3200" dirty="0"/>
          </a:p>
        </p:txBody>
      </p:sp>
      <p:sp>
        <p:nvSpPr>
          <p:cNvPr id="3" name="architecture column 1"/>
          <p:cNvSpPr/>
          <p:nvPr/>
        </p:nvSpPr>
        <p:spPr>
          <a:xfrm>
            <a:off x="9128455" y="1417320"/>
            <a:ext cx="2514600" cy="37947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11335" y="1554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chemeClr val="tx2"/>
                </a:solidFill>
              </a:rPr>
              <a:t>מקורות נתונים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311335" y="2468880"/>
            <a:ext cx="2148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chemeClr val="tx1"/>
                </a:solidFill>
              </a:rPr>
              <a:t>HR ומשימות</a:t>
            </a:r>
            <a:endParaRPr lang="he-IL" sz="15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chemeClr val="tx1"/>
                </a:solidFill>
              </a:rPr>
              <a:t>ITSM</a:t>
            </a:r>
            <a:endParaRPr lang="he-IL" sz="15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chemeClr val="tx1"/>
                </a:solidFill>
              </a:rPr>
              <a:t>רכש ורישיונות</a:t>
            </a:r>
            <a:endParaRPr lang="he-IL" sz="15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chemeClr val="tx1"/>
                </a:solidFill>
              </a:rPr>
              <a:t>Apptio ו-Turbonomic</a:t>
            </a:r>
            <a:endParaRPr lang="he-IL" sz="15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chemeClr val="tx1"/>
                </a:solidFill>
              </a:rPr>
              <a:t>Envizi ומוני חשמל</a:t>
            </a:r>
            <a:endParaRPr lang="he-IL" sz="1500" dirty="0"/>
          </a:p>
        </p:txBody>
      </p:sp>
      <p:pic>
        <p:nvPicPr>
          <p:cNvPr id="6" name="arch arrow 1" descr="ח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559" y="3154680"/>
            <a:ext cx="274320" cy="274320"/>
          </a:xfrm>
          <a:prstGeom prst="rect">
            <a:avLst/>
          </a:prstGeom>
        </p:spPr>
      </p:pic>
      <p:sp>
        <p:nvSpPr>
          <p:cNvPr id="7" name="architecture column 2"/>
          <p:cNvSpPr/>
          <p:nvPr/>
        </p:nvSpPr>
        <p:spPr>
          <a:xfrm>
            <a:off x="6266383" y="1417320"/>
            <a:ext cx="2514600" cy="3794760"/>
          </a:xfrm>
          <a:prstGeom prst="roundRect">
            <a:avLst>
              <a:gd name="adj" fmla="val 436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49263" y="1554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chemeClr val="accent2"/>
                </a:solidFill>
              </a:rPr>
              <a:t>קטלוג נתונים</a:t>
            </a:r>
            <a:endParaRPr lang="he-IL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03543" y="2011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watsonx.data intelligence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49263" y="2468880"/>
            <a:ext cx="2148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chemeClr val="bg1"/>
                </a:solidFill>
              </a:rPr>
              <a:t>קטלוג אחיד לכל המקורות</a:t>
            </a:r>
            <a:endParaRPr lang="he-IL" sz="15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chemeClr val="bg1"/>
                </a:solidFill>
              </a:rPr>
              <a:t>מילון מונחים עסקי</a:t>
            </a:r>
            <a:endParaRPr lang="he-IL" sz="15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chemeClr val="bg1"/>
                </a:solidFill>
              </a:rPr>
              <a:t>שושלת נתונים (lineage)</a:t>
            </a:r>
            <a:endParaRPr lang="he-IL" sz="15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chemeClr val="bg1"/>
                </a:solidFill>
              </a:rPr>
              <a:t>מיסוך מידע אישי</a:t>
            </a:r>
            <a:endParaRPr lang="he-IL" sz="1500" dirty="0"/>
          </a:p>
        </p:txBody>
      </p:sp>
      <p:pic>
        <p:nvPicPr>
          <p:cNvPr id="11" name="arch arrow 2" descr="ח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487" y="3154680"/>
            <a:ext cx="274320" cy="274320"/>
          </a:xfrm>
          <a:prstGeom prst="rect">
            <a:avLst/>
          </a:prstGeom>
        </p:spPr>
      </p:pic>
      <p:sp>
        <p:nvSpPr>
          <p:cNvPr id="12" name="architecture column 3"/>
          <p:cNvSpPr/>
          <p:nvPr/>
        </p:nvSpPr>
        <p:spPr>
          <a:xfrm>
            <a:off x="3404311" y="1417320"/>
            <a:ext cx="2514600" cy="379476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87191" y="1554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chemeClr val="accent2"/>
                </a:solidFill>
              </a:rPr>
              <a:t>אורקסטרציה</a:t>
            </a:r>
            <a:endParaRPr lang="he-IL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541471" y="2011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watsonx Orchestrate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587191" y="2468880"/>
            <a:ext cx="2148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chemeClr val="bg1"/>
                </a:solidFill>
              </a:rPr>
              <a:t>סוכן אנשים</a:t>
            </a:r>
            <a:endParaRPr lang="he-IL" sz="15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chemeClr val="bg1"/>
                </a:solidFill>
              </a:rPr>
              <a:t>סוכן כלים</a:t>
            </a:r>
            <a:endParaRPr lang="he-IL" sz="15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chemeClr val="bg1"/>
                </a:solidFill>
              </a:rPr>
              <a:t>סוכן חשמל</a:t>
            </a:r>
            <a:endParaRPr lang="he-IL" sz="15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chemeClr val="bg1"/>
                </a:solidFill>
              </a:rPr>
              <a:t>סוכן ״מבחן רווח״</a:t>
            </a:r>
            <a:endParaRPr lang="he-IL" sz="1500" dirty="0"/>
          </a:p>
        </p:txBody>
      </p:sp>
      <p:pic>
        <p:nvPicPr>
          <p:cNvPr id="16" name="arch arrow 3" descr="חץ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415" y="3154680"/>
            <a:ext cx="274320" cy="274320"/>
          </a:xfrm>
          <a:prstGeom prst="rect">
            <a:avLst/>
          </a:prstGeom>
        </p:spPr>
      </p:pic>
      <p:sp>
        <p:nvSpPr>
          <p:cNvPr id="17" name="architecture column 4"/>
          <p:cNvSpPr/>
          <p:nvPr/>
        </p:nvSpPr>
        <p:spPr>
          <a:xfrm>
            <a:off x="542239" y="1417320"/>
            <a:ext cx="2514600" cy="37947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25119" y="1554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chemeClr val="tx2"/>
                </a:solidFill>
              </a:rPr>
              <a:t>פעולה ובקרה</a:t>
            </a:r>
            <a:endParaRPr lang="he-IL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79399" y="2011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watsonx.governance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725119" y="2468880"/>
            <a:ext cx="2148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chemeClr val="tx1"/>
                </a:solidFill>
              </a:rPr>
              <a:t>אישור מנהל ה-IT</a:t>
            </a:r>
            <a:endParaRPr lang="he-IL" sz="15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chemeClr val="tx1"/>
                </a:solidFill>
              </a:rPr>
              <a:t>פתיחת קריאה / ביטול רישיון</a:t>
            </a:r>
            <a:endParaRPr lang="he-IL" sz="15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chemeClr val="tx1"/>
                </a:solidFill>
              </a:rPr>
              <a:t>דשבורד ומעקב חיסכון</a:t>
            </a:r>
            <a:endParaRPr lang="he-IL" sz="1500" dirty="0"/>
          </a:p>
        </p:txBody>
      </p:sp>
      <p:sp>
        <p:nvSpPr>
          <p:cNvPr id="21" name="bob band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bob band icon" descr="קוד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557784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22960" y="5468112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chemeClr val="tx2"/>
                </a:solidFill>
              </a:rPr>
              <a:t>כל השכבות נבנות ומתוחזקות עם IBM Bob — שותף הפיתוח מבוסס ה-AI של IBM</a:t>
            </a:r>
            <a:endParaRPr lang="he-IL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chemeClr val="tx2"/>
                </a:solidFill>
              </a:rPr>
              <a:t>איך זה עובד: סוכנים ב-watsonx Orchestrate</a:t>
            </a:r>
            <a:endParaRPr lang="he-IL" sz="3200" dirty="0"/>
          </a:p>
        </p:txBody>
      </p:sp>
      <p:sp>
        <p:nvSpPr>
          <p:cNvPr id="3" name="manager question"/>
          <p:cNvSpPr/>
          <p:nvPr/>
        </p:nvSpPr>
        <p:spPr>
          <a:xfrm>
            <a:off x="9768535" y="1600200"/>
            <a:ext cx="1874520" cy="384048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מנהל IT circle"/>
          <p:cNvSpPr/>
          <p:nvPr/>
        </p:nvSpPr>
        <p:spPr>
          <a:xfrm>
            <a:off x="10294315" y="187452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מנהל IT icon" descr="מנהל 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20802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859975" y="28346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1700" b="1" dirty="0">
                <a:solidFill>
                  <a:schemeClr val="tx2"/>
                </a:solidFill>
              </a:rPr>
              <a:t>מנהל ה-IT שואל</a:t>
            </a:r>
            <a:endParaRPr lang="he-IL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9905695" y="333756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500" i="1" dirty="0">
                <a:solidFill>
                  <a:schemeClr val="tx1"/>
                </a:solidFill>
              </a:rPr>
              <a:t>״איפה אפשר לחסוך 10% בלי לפגוע ב-SLA?״</a:t>
            </a:r>
            <a:endParaRPr lang="he-IL" sz="1500" dirty="0"/>
          </a:p>
        </p:txBody>
      </p:sp>
      <p:pic>
        <p:nvPicPr>
          <p:cNvPr id="8" name="flow arrow 1" descr="ח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6491" y="3383280"/>
            <a:ext cx="274320" cy="274320"/>
          </a:xfrm>
          <a:prstGeom prst="rect">
            <a:avLst/>
          </a:prstGeom>
        </p:spPr>
      </p:pic>
      <p:sp>
        <p:nvSpPr>
          <p:cNvPr id="9" name="orchestrator"/>
          <p:cNvSpPr/>
          <p:nvPr/>
        </p:nvSpPr>
        <p:spPr>
          <a:xfrm>
            <a:off x="7464247" y="1600200"/>
            <a:ext cx="1874520" cy="384048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סוכן מתאם circle"/>
          <p:cNvSpPr/>
          <p:nvPr/>
        </p:nvSpPr>
        <p:spPr>
          <a:xfrm>
            <a:off x="7990027" y="18745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סוכן מתאם icon" descr="סוכן מתאם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767" y="208026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555687" y="28346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1700" b="1" dirty="0">
                <a:solidFill>
                  <a:schemeClr val="accent2"/>
                </a:solidFill>
              </a:rPr>
              <a:t>סוכן מתאם</a:t>
            </a:r>
            <a:endParaRPr lang="he-IL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7601407" y="333756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chemeClr val="bg1"/>
                </a:solidFill>
              </a:rPr>
              <a:t>מפרק את השאלה ושולף נתונים מהקטלוג</a:t>
            </a:r>
            <a:endParaRPr lang="he-IL" sz="1500" dirty="0"/>
          </a:p>
        </p:txBody>
      </p:sp>
      <p:pic>
        <p:nvPicPr>
          <p:cNvPr id="14" name="flow arrow 2" descr="חץ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203" y="3383280"/>
            <a:ext cx="274320" cy="274320"/>
          </a:xfrm>
          <a:prstGeom prst="rect">
            <a:avLst/>
          </a:prstGeom>
        </p:spPr>
      </p:pic>
      <p:sp>
        <p:nvSpPr>
          <p:cNvPr id="15" name="agent 1"/>
          <p:cNvSpPr/>
          <p:nvPr/>
        </p:nvSpPr>
        <p:spPr>
          <a:xfrm>
            <a:off x="5159959" y="1600200"/>
            <a:ext cx="1874520" cy="1158240"/>
          </a:xfrm>
          <a:prstGeom prst="roundRect">
            <a:avLst>
              <a:gd name="adj" fmla="val 947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סוכן אנשים circle"/>
          <p:cNvSpPr/>
          <p:nvPr/>
        </p:nvSpPr>
        <p:spPr>
          <a:xfrm>
            <a:off x="6394399" y="1932432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סוכן אנשים icon" descr="סוכן אנשים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0129" y="2058162"/>
            <a:ext cx="251460" cy="2514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05679" y="19507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bg1"/>
                </a:solidFill>
              </a:rPr>
              <a:t>סוכן אנשים</a:t>
            </a:r>
            <a:endParaRPr lang="he-IL" sz="1500" dirty="0"/>
          </a:p>
        </p:txBody>
      </p:sp>
      <p:sp>
        <p:nvSpPr>
          <p:cNvPr id="19" name="agent 2"/>
          <p:cNvSpPr/>
          <p:nvPr/>
        </p:nvSpPr>
        <p:spPr>
          <a:xfrm>
            <a:off x="5159959" y="2941320"/>
            <a:ext cx="1874520" cy="1158240"/>
          </a:xfrm>
          <a:prstGeom prst="roundRect">
            <a:avLst>
              <a:gd name="adj" fmla="val 947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סוכן כלים circle"/>
          <p:cNvSpPr/>
          <p:nvPr/>
        </p:nvSpPr>
        <p:spPr>
          <a:xfrm>
            <a:off x="6394399" y="3273552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סוכן כלים icon" descr="סוכן כלים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0129" y="3399282"/>
            <a:ext cx="251460" cy="25146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05679" y="32918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bg1"/>
                </a:solidFill>
              </a:rPr>
              <a:t>סוכן כלים</a:t>
            </a:r>
            <a:endParaRPr lang="he-IL" sz="1500" dirty="0"/>
          </a:p>
        </p:txBody>
      </p:sp>
      <p:sp>
        <p:nvSpPr>
          <p:cNvPr id="23" name="agent 3"/>
          <p:cNvSpPr/>
          <p:nvPr/>
        </p:nvSpPr>
        <p:spPr>
          <a:xfrm>
            <a:off x="5159959" y="4282440"/>
            <a:ext cx="1874520" cy="1158240"/>
          </a:xfrm>
          <a:prstGeom prst="roundRect">
            <a:avLst>
              <a:gd name="adj" fmla="val 947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סוכן חשמל circle"/>
          <p:cNvSpPr/>
          <p:nvPr/>
        </p:nvSpPr>
        <p:spPr>
          <a:xfrm>
            <a:off x="6394399" y="4614672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סוכן חשמל icon" descr="סוכן חשמל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0129" y="4740402"/>
            <a:ext cx="251460" cy="25146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205679" y="46329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bg1"/>
                </a:solidFill>
              </a:rPr>
              <a:t>סוכן חשמל</a:t>
            </a:r>
            <a:endParaRPr lang="he-IL" sz="1500" dirty="0"/>
          </a:p>
        </p:txBody>
      </p:sp>
      <p:pic>
        <p:nvPicPr>
          <p:cNvPr id="27" name="flow arrow 3" descr="חץ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7915" y="3383280"/>
            <a:ext cx="274320" cy="274320"/>
          </a:xfrm>
          <a:prstGeom prst="rect">
            <a:avLst/>
          </a:prstGeom>
        </p:spPr>
      </p:pic>
      <p:sp>
        <p:nvSpPr>
          <p:cNvPr id="28" name="profit agent"/>
          <p:cNvSpPr/>
          <p:nvPr/>
        </p:nvSpPr>
        <p:spPr>
          <a:xfrm>
            <a:off x="2855671" y="1600200"/>
            <a:ext cx="1874520" cy="3840480"/>
          </a:xfrm>
          <a:prstGeom prst="roundRect">
            <a:avLst>
              <a:gd name="adj" fmla="val 5854"/>
            </a:avLst>
          </a:prstGeom>
          <a:solidFill>
            <a:srgbClr val="FBF1D3"/>
          </a:solidFill>
          <a:ln w="12700">
            <a:solidFill>
              <a:srgbClr val="FBF1D3"/>
            </a:solidFill>
            <a:prstDash val="solid"/>
          </a:ln>
        </p:spPr>
      </p:sp>
      <p:sp>
        <p:nvSpPr>
          <p:cNvPr id="29" name="מבחן רווח circle"/>
          <p:cNvSpPr/>
          <p:nvPr/>
        </p:nvSpPr>
        <p:spPr>
          <a:xfrm>
            <a:off x="3381451" y="187452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0" name="מבחן רווח icon" descr="מבחן רווח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87191" y="2080260"/>
            <a:ext cx="411480" cy="41148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2947111" y="28346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1700" b="1" dirty="0">
                <a:solidFill>
                  <a:schemeClr val="tx2"/>
                </a:solidFill>
              </a:rPr>
              <a:t>סוכן ״מבחן רווח״</a:t>
            </a:r>
            <a:endParaRPr lang="he-IL" sz="1700" dirty="0"/>
          </a:p>
        </p:txBody>
      </p:sp>
      <p:sp>
        <p:nvSpPr>
          <p:cNvPr id="32" name="Text 21"/>
          <p:cNvSpPr txBox="1"/>
          <p:nvPr/>
        </p:nvSpPr>
        <p:spPr>
          <a:xfrm>
            <a:off x="2992831" y="333756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מסנן המלצות שפוגעות בהכנסות או ב-SLA</a:t>
            </a:r>
            <a:endParaRPr lang="he-IL" sz="1500" dirty="0"/>
          </a:p>
        </p:txBody>
      </p:sp>
      <p:pic>
        <p:nvPicPr>
          <p:cNvPr id="33" name="flow arrow 4" descr="חץ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03627" y="3383280"/>
            <a:ext cx="274320" cy="274320"/>
          </a:xfrm>
          <a:prstGeom prst="rect">
            <a:avLst/>
          </a:prstGeom>
        </p:spPr>
      </p:pic>
      <p:sp>
        <p:nvSpPr>
          <p:cNvPr id="34" name="action"/>
          <p:cNvSpPr/>
          <p:nvPr/>
        </p:nvSpPr>
        <p:spPr>
          <a:xfrm>
            <a:off x="551383" y="1600200"/>
            <a:ext cx="1874520" cy="384048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פעולה circle"/>
          <p:cNvSpPr/>
          <p:nvPr/>
        </p:nvSpPr>
        <p:spPr>
          <a:xfrm>
            <a:off x="1077163" y="18745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פעולה icon" descr="פעולה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2903" y="2080260"/>
            <a:ext cx="411480" cy="411480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642823" y="28346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1700" b="1" dirty="0">
                <a:solidFill>
                  <a:schemeClr val="tx2"/>
                </a:solidFill>
              </a:rPr>
              <a:t>המלצה ופעולה</a:t>
            </a:r>
            <a:endParaRPr lang="he-IL" sz="1700" dirty="0"/>
          </a:p>
        </p:txBody>
      </p:sp>
      <p:sp>
        <p:nvSpPr>
          <p:cNvPr id="38" name="Text 25"/>
          <p:cNvSpPr txBox="1"/>
          <p:nvPr/>
        </p:nvSpPr>
        <p:spPr>
          <a:xfrm>
            <a:off x="688543" y="333756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אחרי אישור המנהל: קריאת שירות, ביטול רישיון, כיבוי שרת</a:t>
            </a:r>
            <a:endParaRPr lang="he-IL" sz="1500" dirty="0"/>
          </a:p>
        </p:txBody>
      </p:sp>
      <p:sp>
        <p:nvSpPr>
          <p:cNvPr id="39" name="Text 26"/>
          <p:cNvSpPr txBox="1"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i="1" dirty="0">
                <a:solidFill>
                  <a:schemeClr val="accent1"/>
                </a:solidFill>
              </a:rPr>
              <a:t>אדם מאשר כל פעולה (human-in-the-loop) · כל החלטה מתועדת ב-watsonx.governance</a:t>
            </a:r>
            <a:endParaRPr lang="he-I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chemeClr val="tx2"/>
                </a:solidFill>
              </a:rPr>
              <a:t>נבנה עם IBM Bob: מהר יותר, ובטוח יותר</a:t>
            </a:r>
            <a:endParaRPr lang="he-IL" sz="3200" dirty="0"/>
          </a:p>
        </p:txBody>
      </p:sp>
      <p:sp>
        <p:nvSpPr>
          <p:cNvPr id="3" name="מחברים לקטלוג circle"/>
          <p:cNvSpPr/>
          <p:nvPr/>
        </p:nvSpPr>
        <p:spPr>
          <a:xfrm>
            <a:off x="10865815" y="1463040"/>
            <a:ext cx="777240" cy="7772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מחברים לקטלוג icon" descr="מחברים לקטלוג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0125" y="1657350"/>
            <a:ext cx="388620" cy="3886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120640" y="141732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900" b="1" dirty="0">
                <a:solidFill>
                  <a:schemeClr val="tx2"/>
                </a:solidFill>
              </a:rPr>
              <a:t>מחברים לקטלוג</a:t>
            </a:r>
            <a:endParaRPr lang="he-IL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1810512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כתיבה ובדיקה של המחברים מכל מקור נתונים אל הקטלוג</a:t>
            </a:r>
            <a:endParaRPr lang="he-IL" sz="1500" dirty="0"/>
          </a:p>
        </p:txBody>
      </p:sp>
      <p:sp>
        <p:nvSpPr>
          <p:cNvPr id="7" name="סוכנים ל-Orchestrate circle"/>
          <p:cNvSpPr/>
          <p:nvPr/>
        </p:nvSpPr>
        <p:spPr>
          <a:xfrm>
            <a:off x="10865815" y="2578608"/>
            <a:ext cx="777240" cy="7772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סוכנים ל-Orchestrate icon" descr="סוכנים ל-Orchestr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125" y="2772918"/>
            <a:ext cx="388620" cy="3886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120640" y="253288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900" b="1" dirty="0">
                <a:solidFill>
                  <a:schemeClr val="tx2"/>
                </a:solidFill>
              </a:rPr>
              <a:t>סוכנים ל-Orchestrate</a:t>
            </a:r>
            <a:endParaRPr lang="he-IL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5120640" y="292608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פיתוח הכלים והלוגיקה של כל סוכן, כולל בדיקות</a:t>
            </a:r>
            <a:endParaRPr lang="he-IL" sz="1500" dirty="0"/>
          </a:p>
        </p:txBody>
      </p:sp>
      <p:sp>
        <p:nvSpPr>
          <p:cNvPr id="11" name="אבטחה ומדיניות circle"/>
          <p:cNvSpPr/>
          <p:nvPr/>
        </p:nvSpPr>
        <p:spPr>
          <a:xfrm>
            <a:off x="10865815" y="3694176"/>
            <a:ext cx="777240" cy="7772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אבטחה ומדיניות icon" descr="אבטחה ומדיניות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0125" y="3888486"/>
            <a:ext cx="388620" cy="3886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20640" y="3648456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900" b="1" dirty="0">
                <a:solidFill>
                  <a:schemeClr val="tx2"/>
                </a:solidFill>
              </a:rPr>
              <a:t>אבטחה ומדיניות</a:t>
            </a:r>
            <a:endParaRPr lang="he-IL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5120640" y="4041648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סריקת מידע רגיש ואכיפת מדיניות מובנות — קריטי כשמנתחים נתוני עובדים</a:t>
            </a:r>
            <a:endParaRPr lang="he-IL" sz="1500" dirty="0"/>
          </a:p>
        </p:txBody>
      </p:sp>
      <p:sp>
        <p:nvSpPr>
          <p:cNvPr id="15" name="מודרניזציה אצל הלקוח circle"/>
          <p:cNvSpPr/>
          <p:nvPr/>
        </p:nvSpPr>
        <p:spPr>
          <a:xfrm>
            <a:off x="10865815" y="4809744"/>
            <a:ext cx="777240" cy="7772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6" name="מודרניזציה אצל הלקוח icon" descr="מודרניזציה אצל הלקוח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0125" y="5004054"/>
            <a:ext cx="388620" cy="3886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120640" y="476402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900" b="1" dirty="0">
                <a:solidFill>
                  <a:schemeClr val="tx2"/>
                </a:solidFill>
              </a:rPr>
              <a:t>מודרניזציה אצל הלקוח</a:t>
            </a:r>
            <a:endParaRPr lang="he-IL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5120640" y="5157216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התאמת סקריפטים ומערכות ישנות של הלקוח כדי שיוכלו להתחבר</a:t>
            </a:r>
            <a:endParaRPr lang="he-IL" sz="1500" dirty="0"/>
          </a:p>
        </p:txBody>
      </p:sp>
      <p:sp>
        <p:nvSpPr>
          <p:cNvPr id="19" name="bob stat 1"/>
          <p:cNvSpPr/>
          <p:nvPr/>
        </p:nvSpPr>
        <p:spPr>
          <a:xfrm>
            <a:off x="548640" y="1463040"/>
            <a:ext cx="411480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31520" y="1600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4000" b="1" dirty="0">
                <a:solidFill>
                  <a:schemeClr val="accent2"/>
                </a:solidFill>
              </a:rPr>
              <a:t>12 שבועות</a:t>
            </a:r>
            <a:endParaRPr lang="he-IL" sz="4000" dirty="0"/>
          </a:p>
        </p:txBody>
      </p:sp>
      <p:sp>
        <p:nvSpPr>
          <p:cNvPr id="21" name="Text 15"/>
          <p:cNvSpPr txBox="1"/>
          <p:nvPr/>
        </p:nvSpPr>
        <p:spPr>
          <a:xfrm>
            <a:off x="731520" y="25603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600" dirty="0">
                <a:solidFill>
                  <a:schemeClr val="bg1"/>
                </a:solidFill>
              </a:rPr>
              <a:t>היעד שלנו ל-MVP עובד, בזכות פיתוח עם Bob</a:t>
            </a:r>
            <a:endParaRPr lang="he-IL" sz="1600" dirty="0"/>
          </a:p>
        </p:txBody>
      </p:sp>
      <p:sp>
        <p:nvSpPr>
          <p:cNvPr id="22" name="bob stat 2"/>
          <p:cNvSpPr/>
          <p:nvPr/>
        </p:nvSpPr>
        <p:spPr>
          <a:xfrm>
            <a:off x="548640" y="3840480"/>
            <a:ext cx="41148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31520" y="39776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4000" b="1" dirty="0">
                <a:solidFill>
                  <a:schemeClr val="accent1"/>
                </a:solidFill>
              </a:rPr>
              <a:t>45%</a:t>
            </a:r>
            <a:endParaRPr lang="he-IL" sz="4000" dirty="0"/>
          </a:p>
        </p:txBody>
      </p:sp>
      <p:sp>
        <p:nvSpPr>
          <p:cNvPr id="24" name="Text 18"/>
          <p:cNvSpPr txBox="1"/>
          <p:nvPr/>
        </p:nvSpPr>
        <p:spPr>
          <a:xfrm>
            <a:off x="731520" y="48920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עלייה ממוצעת בפרודוקטיביות שדיווחו משתמשי Bob ב-IBM</a:t>
            </a:r>
            <a:endParaRPr lang="he-IL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731520" y="5623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1100" i="1" dirty="0">
                <a:solidFill>
                  <a:schemeClr val="accent4"/>
                </a:solidFill>
              </a:rPr>
              <a:t>מקור: IBM, אפריל 2026 (דיווח עצמי)</a:t>
            </a:r>
            <a:endParaRPr lang="he-IL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chemeClr val="tx2"/>
                </a:solidFill>
              </a:rPr>
              <a:t>מפת דרכים ל-12 חודשים</a:t>
            </a:r>
            <a:endParaRPr lang="he-IL" sz="3200" dirty="0"/>
          </a:p>
        </p:txBody>
      </p:sp>
      <p:sp>
        <p:nvSpPr>
          <p:cNvPr id="3" name="timeline line"/>
          <p:cNvSpPr/>
          <p:nvPr/>
        </p:nvSpPr>
        <p:spPr>
          <a:xfrm>
            <a:off x="1097280" y="2743200"/>
            <a:ext cx="996696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4" name="milestone 1"/>
          <p:cNvSpPr/>
          <p:nvPr/>
        </p:nvSpPr>
        <p:spPr>
          <a:xfrm>
            <a:off x="10111435" y="2468880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28455" y="1874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chemeClr val="accent4"/>
                </a:solidFill>
              </a:rPr>
              <a:t>רבעון 1</a:t>
            </a:r>
            <a:endParaRPr lang="he-IL" sz="1500" dirty="0"/>
          </a:p>
        </p:txBody>
      </p:sp>
      <p:sp>
        <p:nvSpPr>
          <p:cNvPr id="6" name="milestone card 1"/>
          <p:cNvSpPr/>
          <p:nvPr/>
        </p:nvSpPr>
        <p:spPr>
          <a:xfrm>
            <a:off x="9128455" y="3291840"/>
            <a:ext cx="25146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11335" y="34290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chemeClr val="tx2"/>
                </a:solidFill>
              </a:rPr>
              <a:t>MVP</a:t>
            </a:r>
            <a:endParaRPr lang="he-IL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311335" y="39776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נבנה עם IBM Bob: קטלוג נתונים + סוכני כלים וחשמל</a:t>
            </a:r>
            <a:endParaRPr lang="he-IL" sz="1500" dirty="0"/>
          </a:p>
        </p:txBody>
      </p:sp>
      <p:sp>
        <p:nvSpPr>
          <p:cNvPr id="9" name="milestone 2"/>
          <p:cNvSpPr/>
          <p:nvPr/>
        </p:nvSpPr>
        <p:spPr>
          <a:xfrm>
            <a:off x="7249363" y="246888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6383" y="1874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chemeClr val="accent4"/>
                </a:solidFill>
              </a:rPr>
              <a:t>רבעון 2</a:t>
            </a:r>
            <a:endParaRPr lang="he-IL" sz="1500" dirty="0"/>
          </a:p>
        </p:txBody>
      </p:sp>
      <p:sp>
        <p:nvSpPr>
          <p:cNvPr id="11" name="milestone card 2"/>
          <p:cNvSpPr/>
          <p:nvPr/>
        </p:nvSpPr>
        <p:spPr>
          <a:xfrm>
            <a:off x="6266383" y="3291840"/>
            <a:ext cx="25146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9263" y="34290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chemeClr val="tx2"/>
                </a:solidFill>
              </a:rPr>
              <a:t>פיילוט</a:t>
            </a:r>
            <a:endParaRPr lang="he-IL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49263" y="39776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2 ארגונים, מדידת חיסכון מאומת מול קו בסיס</a:t>
            </a:r>
            <a:endParaRPr lang="he-IL" sz="1500" dirty="0"/>
          </a:p>
        </p:txBody>
      </p:sp>
      <p:sp>
        <p:nvSpPr>
          <p:cNvPr id="14" name="milestone 3"/>
          <p:cNvSpPr/>
          <p:nvPr/>
        </p:nvSpPr>
        <p:spPr>
          <a:xfrm>
            <a:off x="4387291" y="246888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04311" y="1874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chemeClr val="accent4"/>
                </a:solidFill>
              </a:rPr>
              <a:t>רבעון 3</a:t>
            </a:r>
            <a:endParaRPr lang="he-IL" sz="1500" dirty="0"/>
          </a:p>
        </p:txBody>
      </p:sp>
      <p:sp>
        <p:nvSpPr>
          <p:cNvPr id="16" name="milestone card 3"/>
          <p:cNvSpPr/>
          <p:nvPr/>
        </p:nvSpPr>
        <p:spPr>
          <a:xfrm>
            <a:off x="3404311" y="3291840"/>
            <a:ext cx="25146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87191" y="34290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chemeClr val="tx2"/>
                </a:solidFill>
              </a:rPr>
              <a:t>מנוע אנשים</a:t>
            </a:r>
            <a:endParaRPr lang="he-IL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587191" y="39776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הוספת ניתוח כפילויות משימות עם watsonx.governance</a:t>
            </a:r>
            <a:endParaRPr lang="he-IL" sz="1500" dirty="0"/>
          </a:p>
        </p:txBody>
      </p:sp>
      <p:sp>
        <p:nvSpPr>
          <p:cNvPr id="19" name="milestone 4"/>
          <p:cNvSpPr/>
          <p:nvPr/>
        </p:nvSpPr>
        <p:spPr>
          <a:xfrm>
            <a:off x="1525219" y="246888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2239" y="1874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chemeClr val="accent4"/>
                </a:solidFill>
              </a:rPr>
              <a:t>רבעון 4</a:t>
            </a:r>
            <a:endParaRPr lang="he-IL" sz="1500" dirty="0"/>
          </a:p>
        </p:txBody>
      </p:sp>
      <p:sp>
        <p:nvSpPr>
          <p:cNvPr id="21" name="milestone card 4"/>
          <p:cNvSpPr/>
          <p:nvPr/>
        </p:nvSpPr>
        <p:spPr>
          <a:xfrm>
            <a:off x="542239" y="3291840"/>
            <a:ext cx="25146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5119" y="34290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chemeClr val="tx2"/>
                </a:solidFill>
              </a:rPr>
              <a:t>השקה</a:t>
            </a:r>
            <a:endParaRPr lang="he-IL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25119" y="39776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הפצה דרך שותפי IBM ו-10 לקוחות משלמים</a:t>
            </a:r>
            <a:endParaRPr lang="he-IL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chemeClr val="tx2"/>
                </a:solidFill>
              </a:rPr>
              <a:t>הצוות</a:t>
            </a:r>
            <a:endParaRPr lang="he-IL" sz="3200" dirty="0"/>
          </a:p>
        </p:txBody>
      </p:sp>
      <p:sp>
        <p:nvSpPr>
          <p:cNvPr id="3" name="team card 1"/>
          <p:cNvSpPr/>
          <p:nvPr/>
        </p:nvSpPr>
        <p:spPr>
          <a:xfrm>
            <a:off x="8168335" y="1554480"/>
            <a:ext cx="3474720" cy="42062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חבר/ת צוות 1 circle"/>
          <p:cNvSpPr/>
          <p:nvPr/>
        </p:nvSpPr>
        <p:spPr>
          <a:xfrm>
            <a:off x="9219895" y="1920240"/>
            <a:ext cx="1371600" cy="1371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חבר/ת צוות 1 icon" descr="חבר/ת צוות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2795" y="2263140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96935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chemeClr val="tx2"/>
                </a:solidFill>
              </a:rPr>
              <a:t>[שם מלא]</a:t>
            </a:r>
            <a:endParaRPr lang="he-IL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396935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chemeClr val="accent1"/>
                </a:solidFill>
              </a:rPr>
              <a:t>[תפקיד — למשל: מובילת מוצר]</a:t>
            </a:r>
            <a:endParaRPr lang="he-IL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396935" y="45262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[ניסיון רלוונטי]</a:t>
            </a:r>
            <a:endParaRPr lang="he-IL" sz="1500" dirty="0"/>
          </a:p>
        </p:txBody>
      </p:sp>
      <p:sp>
        <p:nvSpPr>
          <p:cNvPr id="9" name="team card 2"/>
          <p:cNvSpPr/>
          <p:nvPr/>
        </p:nvSpPr>
        <p:spPr>
          <a:xfrm>
            <a:off x="4364431" y="1554480"/>
            <a:ext cx="3474720" cy="42062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חבר/ת צוות 2 circle"/>
          <p:cNvSpPr/>
          <p:nvPr/>
        </p:nvSpPr>
        <p:spPr>
          <a:xfrm>
            <a:off x="5415991" y="1920240"/>
            <a:ext cx="1371600" cy="1371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חבר/ת צוות 2 icon" descr="חבר/ת צוות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891" y="2263140"/>
            <a:ext cx="685800" cy="6858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3031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chemeClr val="tx2"/>
                </a:solidFill>
              </a:rPr>
              <a:t>[שם מלא]</a:t>
            </a:r>
            <a:endParaRPr lang="he-IL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593031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chemeClr val="accent1"/>
                </a:solidFill>
              </a:rPr>
              <a:t>[תפקיד — למשל: Data / AI]</a:t>
            </a:r>
            <a:endParaRPr lang="he-IL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93031" y="45262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[ניסיון רלוונטי]</a:t>
            </a:r>
            <a:endParaRPr lang="he-IL" sz="1500" dirty="0"/>
          </a:p>
        </p:txBody>
      </p:sp>
      <p:sp>
        <p:nvSpPr>
          <p:cNvPr id="15" name="team card 3"/>
          <p:cNvSpPr/>
          <p:nvPr/>
        </p:nvSpPr>
        <p:spPr>
          <a:xfrm>
            <a:off x="560527" y="1554480"/>
            <a:ext cx="3474720" cy="42062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חבר/ת צוות 3 circle"/>
          <p:cNvSpPr/>
          <p:nvPr/>
        </p:nvSpPr>
        <p:spPr>
          <a:xfrm>
            <a:off x="1612087" y="1920240"/>
            <a:ext cx="1371600" cy="1371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חבר/ת צוות 3 icon" descr="חבר/ת צוות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987" y="2263140"/>
            <a:ext cx="685800" cy="6858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89127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chemeClr val="tx2"/>
                </a:solidFill>
              </a:rPr>
              <a:t>[שם מלא]</a:t>
            </a:r>
            <a:endParaRPr lang="he-IL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789127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chemeClr val="accent1"/>
                </a:solidFill>
              </a:rPr>
              <a:t>[תפקיד — למשל: פיתוח]</a:t>
            </a:r>
            <a:endParaRPr lang="he-IL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89127" y="45262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chemeClr val="tx1"/>
                </a:solidFill>
              </a:rPr>
              <a:t>[ניסיון רלוונטי]</a:t>
            </a:r>
            <a:endParaRPr lang="he-IL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600" b="1" dirty="0">
                <a:solidFill>
                  <a:schemeClr val="bg1"/>
                </a:solidFill>
              </a:rPr>
              <a:t>מה אנחנו מבקשים מ-IBM</a:t>
            </a:r>
            <a:endParaRPr lang="he-IL" sz="3600" dirty="0"/>
          </a:p>
        </p:txBody>
      </p:sp>
      <p:sp>
        <p:nvSpPr>
          <p:cNvPr id="3" name="ask card 1"/>
          <p:cNvSpPr/>
          <p:nvPr/>
        </p:nvSpPr>
        <p:spPr>
          <a:xfrm>
            <a:off x="8168335" y="1737360"/>
            <a:ext cx="3474720" cy="2651760"/>
          </a:xfrm>
          <a:prstGeom prst="roundRect">
            <a:avLst>
              <a:gd name="adj" fmla="val 41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גישה לטכנולוגיה circle"/>
          <p:cNvSpPr/>
          <p:nvPr/>
        </p:nvSpPr>
        <p:spPr>
          <a:xfrm>
            <a:off x="9494215" y="201168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גישה לטכנולוגיה icon" descr="גישה לטכנולוגי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9955" y="22174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96935" y="2971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100" b="1" dirty="0">
                <a:solidFill>
                  <a:schemeClr val="bg1"/>
                </a:solidFill>
              </a:rPr>
              <a:t>גישה לטכנולוגיה</a:t>
            </a:r>
            <a:endParaRPr lang="he-IL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396935" y="34747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chemeClr val="bg1"/>
                </a:solidFill>
              </a:rPr>
              <a:t>IBM Bob, watsonx Orchestrate ו-watsonx.data intelligence</a:t>
            </a:r>
            <a:endParaRPr lang="he-IL" sz="1500" dirty="0"/>
          </a:p>
        </p:txBody>
      </p:sp>
      <p:sp>
        <p:nvSpPr>
          <p:cNvPr id="8" name="ask card 2"/>
          <p:cNvSpPr/>
          <p:nvPr/>
        </p:nvSpPr>
        <p:spPr>
          <a:xfrm>
            <a:off x="4364431" y="1737360"/>
            <a:ext cx="3474720" cy="2651760"/>
          </a:xfrm>
          <a:prstGeom prst="roundRect">
            <a:avLst>
              <a:gd name="adj" fmla="val 41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לקוח פיילוט circle"/>
          <p:cNvSpPr/>
          <p:nvPr/>
        </p:nvSpPr>
        <p:spPr>
          <a:xfrm>
            <a:off x="5690311" y="201168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לקוח פיילוט icon" descr="לקוח פיילו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51" y="22174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93031" y="2971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100" b="1" dirty="0">
                <a:solidFill>
                  <a:schemeClr val="bg1"/>
                </a:solidFill>
              </a:rPr>
              <a:t>לקוח פיילוט</a:t>
            </a:r>
            <a:endParaRPr lang="he-IL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593031" y="34747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chemeClr val="bg1"/>
                </a:solidFill>
              </a:rPr>
              <a:t>חיבור לארגון אחד-שניים מלקוחות IBM</a:t>
            </a:r>
            <a:endParaRPr lang="he-IL" sz="1500" dirty="0"/>
          </a:p>
        </p:txBody>
      </p:sp>
      <p:sp>
        <p:nvSpPr>
          <p:cNvPr id="13" name="ask card 3"/>
          <p:cNvSpPr/>
          <p:nvPr/>
        </p:nvSpPr>
        <p:spPr>
          <a:xfrm>
            <a:off x="560527" y="1737360"/>
            <a:ext cx="3474720" cy="2651760"/>
          </a:xfrm>
          <a:prstGeom prst="roundRect">
            <a:avLst>
              <a:gd name="adj" fmla="val 41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ליווי מנטור circle"/>
          <p:cNvSpPr/>
          <p:nvPr/>
        </p:nvSpPr>
        <p:spPr>
          <a:xfrm>
            <a:off x="1886407" y="201168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ליווי מנטור icon" descr="ליווי מנטור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147" y="22174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89127" y="2971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100" b="1" dirty="0">
                <a:solidFill>
                  <a:schemeClr val="bg1"/>
                </a:solidFill>
              </a:rPr>
              <a:t>ליווי מנטור</a:t>
            </a:r>
            <a:endParaRPr lang="he-IL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789127" y="34747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chemeClr val="bg1"/>
                </a:solidFill>
              </a:rPr>
              <a:t>מומחה FinOps / Sustainability מ-IBM</a:t>
            </a:r>
            <a:endParaRPr lang="he-IL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8920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800" b="1" i="1" dirty="0">
                <a:solidFill>
                  <a:schemeClr val="accent2"/>
                </a:solidFill>
              </a:rPr>
              <a:t>כל שקל שנחסך — בלי לפגוע באף שקל של רווח</a:t>
            </a:r>
            <a:endParaRPr lang="he-IL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1600" dirty="0">
                <a:solidFill>
                  <a:schemeClr val="bg2"/>
                </a:solidFill>
              </a:rPr>
              <a:t>[שם הצוות]  ·  [מייל ליצירת קשר]</a:t>
            </a:r>
            <a:endParaRPr lang="he-IL" sz="1600" dirty="0"/>
          </a:p>
        </p:txBody>
      </p:sp>
      <p:sp>
        <p:nvSpPr>
          <p:cNvPr id="21" name="Text 0"/>
          <p:cNvSpPr/>
          <p:nvPr>
            <p:ph idx="100" type="title" hasCustomPrompt="1"/>
          </p:nvPr>
        </p:nvSpPr>
        <p:spPr>
          <a:xfrm>
            <a:off x="548640" y="201168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6000" dirty="0"/>
          </a:p>
        </p:txBody>
      </p:sp>
      <p:sp>
        <p:nvSpPr>
          <p:cNvPr id="22" name="Text 0"/>
          <p:cNvSpPr/>
          <p:nvPr>
            <p:ph idx="101" type="body" hasCustomPrompt="1"/>
          </p:nvPr>
        </p:nvSpPr>
        <p:spPr>
          <a:xfrm>
            <a:off x="548640" y="356616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ere Is The Money">
  <a:themeElements>
    <a:clrScheme name="Where Is The Money">
      <a:dk1>
        <a:srgbClr val="14231C"/>
      </a:dk1>
      <a:lt1>
        <a:srgbClr val="FFFFFF"/>
      </a:lt1>
      <a:dk2>
        <a:srgbClr val="0B3D2E"/>
      </a:dk2>
      <a:lt2>
        <a:srgbClr val="EEF5F1"/>
      </a:lt2>
      <a:accent1>
        <a:srgbClr val="1F7A5A"/>
      </a:accent1>
      <a:accent2>
        <a:srgbClr val="E0A800"/>
      </a:accent2>
      <a:accent3>
        <a:srgbClr val="5FB58E"/>
      </a:accent3>
      <a:accent4>
        <a:srgbClr val="9AA5A0"/>
      </a:accent4>
      <a:accent5>
        <a:srgbClr val="C8452F"/>
      </a:accent5>
      <a:accent6>
        <a:srgbClr val="2E5E8C"/>
      </a:accent6>
      <a:hlink>
        <a:srgbClr val="1F7A5A"/>
      </a:hlink>
      <a:folHlink>
        <a:srgbClr val="0B3D2E"/>
      </a:folHlink>
    </a:clrScheme>
    <a:fontScheme name="Where Is The Mone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איפה הכסף? – IBM Challenge</dc:title>
  <dc:subject>PptxGenJS Presentation</dc:subject>
  <dc:creator>PptxGenJS</dc:creator>
  <cp:lastModifiedBy>PptxGenJS</cp:lastModifiedBy>
  <cp:revision>1</cp:revision>
  <dcterms:created xsi:type="dcterms:W3CDTF">2026-11-01T10:55:50Z</dcterms:created>
  <dcterms:modified xsi:type="dcterms:W3CDTF">2026-11-01T10:55:50Z</dcterms:modified>
</cp:coreProperties>
</file>